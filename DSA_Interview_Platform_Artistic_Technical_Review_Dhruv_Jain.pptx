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79" y="-914400"/>
            <a:ext cx="3657600" cy="3657600"/>
          </a:xfrm>
          <a:prstGeom prst="ellipse">
            <a:avLst/>
          </a:prstGeom>
          <a:noFill/>
          <a:ln w="25400">
            <a:solidFill>
              <a:srgbClr val="8F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1371600"/>
            <a:ext cx="2743200" cy="2743200"/>
          </a:xfrm>
          <a:prstGeom prst="ellipse">
            <a:avLst/>
          </a:prstGeom>
          <a:noFill/>
          <a:ln w="25400">
            <a:solidFill>
              <a:srgbClr val="2DE0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995160" y="3337560"/>
            <a:ext cx="2103120" cy="2103120"/>
          </a:xfrm>
          <a:prstGeom prst="ellipse">
            <a:avLst/>
          </a:prstGeom>
          <a:noFill/>
          <a:ln w="25400">
            <a:solidFill>
              <a:srgbClr val="FF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144000" y="2834640"/>
            <a:ext cx="2743200" cy="0"/>
          </a:xfrm>
          <a:prstGeom prst="line">
            <a:avLst/>
          </a:prstGeom>
          <a:ln w="12700">
            <a:solidFill>
              <a:srgbClr val="262D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0" y="2834640"/>
            <a:ext cx="2375680" cy="1005840"/>
          </a:xfrm>
          <a:prstGeom prst="line">
            <a:avLst/>
          </a:prstGeom>
          <a:ln w="12700">
            <a:solidFill>
              <a:srgbClr val="262D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0" y="2834640"/>
            <a:ext cx="1371600" cy="1742165"/>
          </a:xfrm>
          <a:prstGeom prst="line">
            <a:avLst/>
          </a:prstGeom>
          <a:ln w="12700">
            <a:solidFill>
              <a:srgbClr val="262D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44000" y="2834640"/>
            <a:ext cx="0" cy="2011680"/>
          </a:xfrm>
          <a:prstGeom prst="line">
            <a:avLst/>
          </a:prstGeom>
          <a:ln w="12700">
            <a:solidFill>
              <a:srgbClr val="262D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772400" y="2834640"/>
            <a:ext cx="1371600" cy="1742165"/>
          </a:xfrm>
          <a:prstGeom prst="line">
            <a:avLst/>
          </a:prstGeom>
          <a:ln w="12700">
            <a:solidFill>
              <a:srgbClr val="262D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768319" y="2834640"/>
            <a:ext cx="2375681" cy="1005840"/>
          </a:xfrm>
          <a:prstGeom prst="line">
            <a:avLst/>
          </a:prstGeom>
          <a:ln w="12700">
            <a:solidFill>
              <a:srgbClr val="262D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400800" y="2834640"/>
            <a:ext cx="2743200" cy="0"/>
          </a:xfrm>
          <a:prstGeom prst="line">
            <a:avLst/>
          </a:prstGeom>
          <a:ln w="12700">
            <a:solidFill>
              <a:srgbClr val="262D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6768319" y="1828799"/>
            <a:ext cx="2375681" cy="1005841"/>
          </a:xfrm>
          <a:prstGeom prst="line">
            <a:avLst/>
          </a:prstGeom>
          <a:ln w="12700">
            <a:solidFill>
              <a:srgbClr val="262D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7772399" y="1092474"/>
            <a:ext cx="1371601" cy="1742166"/>
          </a:xfrm>
          <a:prstGeom prst="line">
            <a:avLst/>
          </a:prstGeom>
          <a:ln w="12700">
            <a:solidFill>
              <a:srgbClr val="262D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144000" y="822959"/>
            <a:ext cx="0" cy="2011681"/>
          </a:xfrm>
          <a:prstGeom prst="line">
            <a:avLst/>
          </a:prstGeom>
          <a:ln w="12700">
            <a:solidFill>
              <a:srgbClr val="262D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144000" y="1092474"/>
            <a:ext cx="1371600" cy="1742166"/>
          </a:xfrm>
          <a:prstGeom prst="line">
            <a:avLst/>
          </a:prstGeom>
          <a:ln w="12700">
            <a:solidFill>
              <a:srgbClr val="262D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144000" y="1828799"/>
            <a:ext cx="2375680" cy="1005841"/>
          </a:xfrm>
          <a:prstGeom prst="line">
            <a:avLst/>
          </a:prstGeom>
          <a:ln w="12700">
            <a:solidFill>
              <a:srgbClr val="262D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1143000"/>
            <a:ext cx="60350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4F7FA"/>
                </a:solidFill>
                <a:latin typeface="Aptos Display"/>
              </a:rPr>
              <a:t>TECHNICAL
PROJECT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788920"/>
            <a:ext cx="5394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DE0CD"/>
                </a:solidFill>
                <a:latin typeface="Aptos"/>
              </a:rPr>
              <a:t>AI-Powered DSA Interview
Preparation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5760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4ADBE"/>
                </a:solidFill>
                <a:latin typeface="Aptos"/>
              </a:rPr>
              <a:t>A coding workspace that evaluates not only the answer —
but the candidate's reasoning, explanation and interview behavior.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074920"/>
            <a:ext cx="1051560" cy="292608"/>
          </a:xfrm>
          <a:prstGeom prst="roundRect">
            <a:avLst/>
          </a:prstGeom>
          <a:solidFill>
            <a:srgbClr val="2DE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06924"/>
            <a:ext cx="10515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A0C14"/>
                </a:solidFill>
                <a:latin typeface="Aptos"/>
              </a:rPr>
              <a:t>BASELINE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65960" y="5074920"/>
            <a:ext cx="1417320" cy="292608"/>
          </a:xfrm>
          <a:prstGeom prst="roundRect">
            <a:avLst/>
          </a:prstGeom>
          <a:solidFill>
            <a:srgbClr val="8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5960" y="5106924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A0C14"/>
                </a:solidFill>
                <a:latin typeface="Aptos"/>
              </a:rPr>
              <a:t>AI EVALUATION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0440" y="5074920"/>
            <a:ext cx="1508760" cy="292608"/>
          </a:xfrm>
          <a:prstGeom prst="roundRect">
            <a:avLst/>
          </a:prstGeom>
          <a:solidFill>
            <a:srgbClr val="FF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5106924"/>
            <a:ext cx="15087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A0C14"/>
                </a:solidFill>
                <a:latin typeface="Aptos"/>
              </a:rPr>
              <a:t>ADAPTIVE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98932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4F7FA"/>
                </a:solidFill>
                <a:latin typeface="Aptos"/>
              </a:rPr>
              <a:t>MADE BY DHRUV JAIN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DE0CD"/>
                </a:solidFill>
                <a:latin typeface="Aptos"/>
              </a:rPr>
              <a:t>THE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A"/>
                </a:solidFill>
                <a:latin typeface="Aptos Display"/>
              </a:rPr>
              <a:t>Review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4ADBE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514600" cy="356616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74519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DE0CD"/>
                </a:solidFill>
                <a:latin typeface="Aptos Display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6888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7FA"/>
                </a:solidFill>
                <a:latin typeface="Aptos Display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063240"/>
            <a:ext cx="2057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ADBE"/>
                </a:solidFill>
                <a:latin typeface="Aptos"/>
              </a:rPr>
              <a:t>Why normal DSA practice misses interview communication.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59" y="5074920"/>
            <a:ext cx="2103121" cy="0"/>
          </a:xfrm>
          <a:prstGeom prst="line">
            <a:avLst/>
          </a:prstGeom>
          <a:ln w="25400">
            <a:solidFill>
              <a:srgbClr val="2DE0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20439" y="1645920"/>
            <a:ext cx="2514600" cy="356616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874519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8F67FF"/>
                </a:solidFill>
                <a:latin typeface="Aptos Displa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46888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7FA"/>
                </a:solidFill>
                <a:latin typeface="Aptos Display"/>
              </a:rPr>
              <a:t>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063240"/>
            <a:ext cx="2057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ADBE"/>
                </a:solidFill>
                <a:latin typeface="Aptos"/>
              </a:rPr>
              <a:t>How the web app, AI services and data layer connect.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03320" y="5074920"/>
            <a:ext cx="2103120" cy="0"/>
          </a:xfrm>
          <a:prstGeom prst="line">
            <a:avLst/>
          </a:prstGeom>
          <a:ln w="25400">
            <a:solidFill>
              <a:srgbClr val="8F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0" y="1645920"/>
            <a:ext cx="2514600" cy="356616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874519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5B9B"/>
                </a:solidFill>
                <a:latin typeface="Aptos Display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7FA"/>
                </a:solidFill>
                <a:latin typeface="Aptos Display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063240"/>
            <a:ext cx="2057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ADBE"/>
                </a:solidFill>
                <a:latin typeface="Aptos"/>
              </a:rPr>
              <a:t>API, data model, evaluation pipeline and agentic extension.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0" y="5074920"/>
            <a:ext cx="2103120" cy="0"/>
          </a:xfrm>
          <a:prstGeom prst="line">
            <a:avLst/>
          </a:prstGeom>
          <a:ln w="25400">
            <a:solidFill>
              <a:srgbClr val="FF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81159" y="1645920"/>
            <a:ext cx="2514600" cy="356616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39" y="1874519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C65C"/>
                </a:solidFill>
                <a:latin typeface="Aptos Display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39" y="246888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7FA"/>
                </a:solidFill>
                <a:latin typeface="Aptos Display"/>
              </a:rPr>
              <a:t>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39" y="3063240"/>
            <a:ext cx="2057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ADBE"/>
                </a:solidFill>
                <a:latin typeface="Aptos"/>
              </a:rPr>
              <a:t>How the candidate journey and failure modes are validated.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64039" y="5074920"/>
            <a:ext cx="2103120" cy="0"/>
          </a:xfrm>
          <a:prstGeom prst="line">
            <a:avLst/>
          </a:prstGeom>
          <a:ln w="25400">
            <a:solidFill>
              <a:srgbClr val="FFC6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580644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E0CD"/>
                </a:solidFill>
                <a:latin typeface="Aptos"/>
              </a:rPr>
              <a:t>FROM A STATIC CODING PLATFORM → TO AN INTERVIEW SIMULATOR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2881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4ADBE"/>
                </a:solidFill>
                <a:latin typeface="Aptos"/>
              </a:rPr>
              <a:t>DHRUV JAIN  •  DSA INTERVIEW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528816"/>
            <a:ext cx="2423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ADBE"/>
                </a:solidFill>
                <a:latin typeface="Aptos"/>
              </a:rPr>
              <a:t>TECHNICAL PROJECT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DE0CD"/>
                </a:solidFill>
                <a:latin typeface="Aptos"/>
              </a:rPr>
              <a:t>01 •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A"/>
                </a:solidFill>
                <a:latin typeface="Aptos Display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4ADBE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486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DE0CD"/>
                </a:solidFill>
                <a:latin typeface="Aptos Display"/>
              </a:rPr>
              <a:t>“Can you explain your approach?”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ADBE"/>
                </a:solidFill>
                <a:latin typeface="Aptos"/>
              </a:rPr>
              <a:t>That is where many coding platforms stop helping.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91440" cy="475488"/>
          </a:xfrm>
          <a:prstGeom prst="rect">
            <a:avLst/>
          </a:prstGeom>
          <a:solidFill>
            <a:srgbClr val="2DE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724912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E0CD"/>
                </a:solidFill>
                <a:latin typeface="Aptos"/>
              </a:rPr>
              <a:t>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706624"/>
            <a:ext cx="4343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F7FA"/>
                </a:solidFill>
                <a:latin typeface="Aptos"/>
              </a:rPr>
              <a:t>Correct code ≠ interview-ready candidate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91440" cy="475488"/>
          </a:xfrm>
          <a:prstGeom prst="rect">
            <a:avLst/>
          </a:prstGeom>
          <a:solidFill>
            <a:srgbClr val="8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474720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8F67FF"/>
                </a:solidFill>
                <a:latin typeface="Aptos"/>
              </a:rPr>
              <a:t>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56432"/>
            <a:ext cx="4343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F7FA"/>
                </a:solidFill>
                <a:latin typeface="Aptos"/>
              </a:rPr>
              <a:t>Reasoning, clarity and confidence are rarely measured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91440" cy="475488"/>
          </a:xfrm>
          <a:prstGeom prst="rect">
            <a:avLst/>
          </a:prstGeom>
          <a:solidFill>
            <a:srgbClr val="FF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224528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5B9B"/>
                </a:solidFill>
                <a:latin typeface="Aptos"/>
              </a:rPr>
              <a:t>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206240"/>
            <a:ext cx="4343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F7FA"/>
                </a:solidFill>
                <a:latin typeface="Aptos"/>
              </a:rPr>
              <a:t>Generic results do not explain how to improve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992624"/>
            <a:ext cx="91440" cy="475488"/>
          </a:xfrm>
          <a:prstGeom prst="rect">
            <a:avLst/>
          </a:prstGeom>
          <a:solidFill>
            <a:srgbClr val="FF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974336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C65C"/>
                </a:solidFill>
                <a:latin typeface="Aptos"/>
              </a:rPr>
              <a:t>ADAPTATION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956048"/>
            <a:ext cx="4343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F7FA"/>
                </a:solidFill>
                <a:latin typeface="Aptos"/>
              </a:rPr>
              <a:t>Fixed problem sequences ignore candidate performance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1325880"/>
            <a:ext cx="4754880" cy="452628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16276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4ADBE"/>
                </a:solidFill>
                <a:latin typeface="Aptos"/>
              </a:rPr>
              <a:t>CURRENT PRACTICE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2240280"/>
            <a:ext cx="914400" cy="68580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51192" y="2404872"/>
            <a:ext cx="164592" cy="164592"/>
          </a:xfrm>
          <a:prstGeom prst="ellipse">
            <a:avLst/>
          </a:prstGeom>
          <a:solidFill>
            <a:srgbClr val="2DE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25512" y="2359152"/>
            <a:ext cx="320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7FA"/>
                </a:solidFill>
                <a:latin typeface="Aptos"/>
              </a:rPr>
              <a:t>Problem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01000" y="2578608"/>
            <a:ext cx="109727" cy="0"/>
          </a:xfrm>
          <a:prstGeom prst="line">
            <a:avLst/>
          </a:prstGeom>
          <a:ln w="15240">
            <a:solidFill>
              <a:srgbClr val="3138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10728" y="2240280"/>
            <a:ext cx="914400" cy="68580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75320" y="2404872"/>
            <a:ext cx="164592" cy="164592"/>
          </a:xfrm>
          <a:prstGeom prst="ellipse">
            <a:avLst/>
          </a:prstGeom>
          <a:solidFill>
            <a:srgbClr val="8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2359152"/>
            <a:ext cx="320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7FA"/>
                </a:solidFill>
                <a:latin typeface="Aptos"/>
              </a:rPr>
              <a:t>Code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25128" y="2578608"/>
            <a:ext cx="109727" cy="0"/>
          </a:xfrm>
          <a:prstGeom prst="line">
            <a:avLst/>
          </a:prstGeom>
          <a:ln w="15240">
            <a:solidFill>
              <a:srgbClr val="3138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134856" y="2240280"/>
            <a:ext cx="914400" cy="68580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99448" y="2404872"/>
            <a:ext cx="164592" cy="164592"/>
          </a:xfrm>
          <a:prstGeom prst="ellipse">
            <a:avLst/>
          </a:prstGeom>
          <a:solidFill>
            <a:srgbClr val="FF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73768" y="2359152"/>
            <a:ext cx="320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7FA"/>
                </a:solidFill>
                <a:latin typeface="Aptos"/>
              </a:rPr>
              <a:t>Submit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049256" y="2578608"/>
            <a:ext cx="109728" cy="0"/>
          </a:xfrm>
          <a:prstGeom prst="line">
            <a:avLst/>
          </a:prstGeom>
          <a:ln w="15240">
            <a:solidFill>
              <a:srgbClr val="3138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158984" y="2240280"/>
            <a:ext cx="914400" cy="68580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23576" y="2404872"/>
            <a:ext cx="164592" cy="164592"/>
          </a:xfrm>
          <a:prstGeom prst="ellipse">
            <a:avLst/>
          </a:prstGeom>
          <a:solidFill>
            <a:srgbClr val="FF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97896" y="2359152"/>
            <a:ext cx="320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7FA"/>
                </a:solidFill>
                <a:latin typeface="Aptos"/>
              </a:rPr>
              <a:t>Pass / 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4290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4ADBE"/>
                </a:solidFill>
                <a:latin typeface="Aptos"/>
              </a:rPr>
              <a:t>MISSING LAYERS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3977639"/>
            <a:ext cx="914400" cy="68580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251192" y="4142231"/>
            <a:ext cx="164592" cy="164592"/>
          </a:xfrm>
          <a:prstGeom prst="ellipse">
            <a:avLst/>
          </a:prstGeom>
          <a:solidFill>
            <a:srgbClr val="2DE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4096511"/>
            <a:ext cx="320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7FA"/>
                </a:solidFill>
                <a:latin typeface="Aptos"/>
              </a:rPr>
              <a:t>Explain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001000" y="4315968"/>
            <a:ext cx="109727" cy="0"/>
          </a:xfrm>
          <a:prstGeom prst="line">
            <a:avLst/>
          </a:prstGeom>
          <a:ln w="15240">
            <a:solidFill>
              <a:srgbClr val="3138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110728" y="3977639"/>
            <a:ext cx="914400" cy="68580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75320" y="4142231"/>
            <a:ext cx="164592" cy="164592"/>
          </a:xfrm>
          <a:prstGeom prst="ellipse">
            <a:avLst/>
          </a:prstGeom>
          <a:solidFill>
            <a:srgbClr val="8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4096511"/>
            <a:ext cx="320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7FA"/>
                </a:solidFill>
                <a:latin typeface="Aptos"/>
              </a:rPr>
              <a:t>Transcribe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025128" y="4315968"/>
            <a:ext cx="109727" cy="0"/>
          </a:xfrm>
          <a:prstGeom prst="line">
            <a:avLst/>
          </a:prstGeom>
          <a:ln w="15240">
            <a:solidFill>
              <a:srgbClr val="3138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134856" y="3977639"/>
            <a:ext cx="914400" cy="68580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299448" y="4142231"/>
            <a:ext cx="164592" cy="164592"/>
          </a:xfrm>
          <a:prstGeom prst="ellipse">
            <a:avLst/>
          </a:prstGeom>
          <a:solidFill>
            <a:srgbClr val="FF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73768" y="4096511"/>
            <a:ext cx="320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7FA"/>
                </a:solidFill>
                <a:latin typeface="Aptos"/>
              </a:rPr>
              <a:t>Evaluate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049256" y="4315968"/>
            <a:ext cx="109728" cy="0"/>
          </a:xfrm>
          <a:prstGeom prst="line">
            <a:avLst/>
          </a:prstGeom>
          <a:ln w="15240">
            <a:solidFill>
              <a:srgbClr val="3138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10158984" y="3977639"/>
            <a:ext cx="914400" cy="68580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23576" y="4142231"/>
            <a:ext cx="164592" cy="164592"/>
          </a:xfrm>
          <a:prstGeom prst="ellipse">
            <a:avLst/>
          </a:prstGeom>
          <a:solidFill>
            <a:srgbClr val="FF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97896" y="4096511"/>
            <a:ext cx="320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7FA"/>
                </a:solidFill>
                <a:latin typeface="Aptos"/>
              </a:rPr>
              <a:t>Coach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516636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E0CD"/>
                </a:solidFill>
                <a:latin typeface="Aptos"/>
              </a:rPr>
              <a:t>OUR PLATFORM ADDS THE INTERVIEW LAYER.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652881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4ADBE"/>
                </a:solidFill>
                <a:latin typeface="Aptos"/>
              </a:rPr>
              <a:t>DHRUV JAIN  •  DSA INTERVIEW PLATFORM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6528816"/>
            <a:ext cx="2423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ADBE"/>
                </a:solidFill>
                <a:latin typeface="Aptos"/>
              </a:rPr>
              <a:t>TECHNICAL PROJECT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DE0CD"/>
                </a:solidFill>
                <a:latin typeface="Aptos"/>
              </a:rPr>
              <a:t>02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A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4ADBE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675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ADBE"/>
                </a:solidFill>
                <a:latin typeface="Aptos"/>
              </a:rPr>
              <a:t>Hybrid deployment keeps the application simple while outsourcing specialized AI capabilities.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554480" cy="82296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313432"/>
            <a:ext cx="164592" cy="164592"/>
          </a:xfrm>
          <a:prstGeom prst="ellipse">
            <a:avLst/>
          </a:prstGeom>
          <a:solidFill>
            <a:srgbClr val="2DE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267712"/>
            <a:ext cx="9601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7FA"/>
                </a:solidFill>
                <a:latin typeface="Aptos"/>
              </a:rPr>
              <a:t>Candidate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24328"/>
            <a:ext cx="11887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ADBE"/>
                </a:solidFill>
                <a:latin typeface="Aptos"/>
              </a:rPr>
              <a:t>Browser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148840"/>
            <a:ext cx="1920240" cy="82296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07792" y="2313432"/>
            <a:ext cx="164592" cy="164592"/>
          </a:xfrm>
          <a:prstGeom prst="ellipse">
            <a:avLst/>
          </a:prstGeom>
          <a:solidFill>
            <a:srgbClr val="8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2112" y="2267712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7FA"/>
                </a:solidFill>
                <a:latin typeface="Aptos"/>
              </a:rPr>
              <a:t>React + Vite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24328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ADBE"/>
                </a:solidFill>
                <a:latin typeface="Aptos"/>
              </a:rPr>
              <a:t>Interview UI / Monaco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2148840"/>
            <a:ext cx="1920240" cy="82296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30952" y="2313432"/>
            <a:ext cx="164592" cy="164592"/>
          </a:xfrm>
          <a:prstGeom prst="ellipse">
            <a:avLst/>
          </a:prstGeom>
          <a:solidFill>
            <a:srgbClr val="2DE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05272" y="2267712"/>
            <a:ext cx="1325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7FA"/>
                </a:solidFill>
                <a:latin typeface="Aptos"/>
              </a:rPr>
              <a:t>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624328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ADBE"/>
                </a:solidFill>
                <a:latin typeface="Aptos"/>
              </a:rPr>
              <a:t>Application 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2148840"/>
            <a:ext cx="1965960" cy="82296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54112" y="2313432"/>
            <a:ext cx="164592" cy="164592"/>
          </a:xfrm>
          <a:prstGeom prst="ellipse">
            <a:avLst/>
          </a:prstGeom>
          <a:solidFill>
            <a:srgbClr val="FF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8432" y="2267712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7FA"/>
                </a:solidFill>
                <a:latin typeface="Aptos"/>
              </a:rPr>
              <a:t>Redis Cloud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624328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ADBE"/>
                </a:solidFill>
                <a:latin typeface="Aptos"/>
              </a:rPr>
              <a:t>Primary state + search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60" y="2148840"/>
            <a:ext cx="1554480" cy="82296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31552" y="2313432"/>
            <a:ext cx="164592" cy="164592"/>
          </a:xfrm>
          <a:prstGeom prst="ellipse">
            <a:avLst/>
          </a:prstGeom>
          <a:solidFill>
            <a:srgbClr val="FF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05872" y="2267712"/>
            <a:ext cx="9601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7FA"/>
                </a:solidFill>
                <a:latin typeface="Aptos"/>
              </a:rPr>
              <a:t>AI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2624328"/>
            <a:ext cx="11887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ADBE"/>
                </a:solidFill>
                <a:latin typeface="Aptos"/>
              </a:rPr>
              <a:t>OpenAI + AssemblyAI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86000" y="2560320"/>
            <a:ext cx="457200" cy="0"/>
          </a:xfrm>
          <a:prstGeom prst="line">
            <a:avLst/>
          </a:prstGeom>
          <a:ln w="25400">
            <a:solidFill>
              <a:srgbClr val="2DE0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663440" y="2560320"/>
            <a:ext cx="502920" cy="0"/>
          </a:xfrm>
          <a:prstGeom prst="line">
            <a:avLst/>
          </a:prstGeom>
          <a:ln w="25400">
            <a:solidFill>
              <a:srgbClr val="2DE0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086600" y="2560320"/>
            <a:ext cx="502920" cy="0"/>
          </a:xfrm>
          <a:prstGeom prst="line">
            <a:avLst/>
          </a:prstGeom>
          <a:ln w="25400">
            <a:solidFill>
              <a:srgbClr val="2DE0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555480" y="2560320"/>
            <a:ext cx="411480" cy="0"/>
          </a:xfrm>
          <a:prstGeom prst="line">
            <a:avLst/>
          </a:prstGeom>
          <a:ln w="25400">
            <a:solidFill>
              <a:srgbClr val="2DE0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72000" y="4069080"/>
            <a:ext cx="2240280" cy="82296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36592" y="4233672"/>
            <a:ext cx="164592" cy="164592"/>
          </a:xfrm>
          <a:prstGeom prst="ellipse">
            <a:avLst/>
          </a:prstGeom>
          <a:solidFill>
            <a:srgbClr val="5AE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10912" y="4187952"/>
            <a:ext cx="1645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7FA"/>
                </a:solidFill>
                <a:latin typeface="Aptos"/>
              </a:rPr>
              <a:t>Isolated Code Execution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544568"/>
            <a:ext cx="1874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ADBE"/>
                </a:solidFill>
                <a:latin typeface="Aptos"/>
              </a:rPr>
              <a:t>Run candidate programs safely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5669280" y="2971800"/>
            <a:ext cx="457200" cy="1097280"/>
          </a:xfrm>
          <a:prstGeom prst="line">
            <a:avLst/>
          </a:prstGeom>
          <a:ln w="25400">
            <a:solidFill>
              <a:srgbClr val="2DE0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543800" y="3886200"/>
            <a:ext cx="3977639" cy="1325880"/>
          </a:xfrm>
          <a:prstGeom prst="roundRect">
            <a:avLst/>
          </a:prstGeom>
          <a:solidFill>
            <a:srgbClr val="1E1932"/>
          </a:solidFill>
          <a:ln>
            <a:solidFill>
              <a:srgbClr val="4F3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8120" y="411480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8F67FF"/>
                </a:solidFill>
                <a:latin typeface="Aptos"/>
              </a:rPr>
              <a:t>LANGGRAPH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441655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7FA"/>
                </a:solidFill>
                <a:latin typeface="Aptos Display"/>
              </a:rPr>
              <a:t>Adaptive Interviewer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4828032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ADBE"/>
                </a:solidFill>
                <a:latin typeface="Aptos"/>
              </a:rPr>
              <a:t>Stateful routing • next action • follow-up • difficulty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315200" y="2971800"/>
            <a:ext cx="914400" cy="914400"/>
          </a:xfrm>
          <a:prstGeom prst="line">
            <a:avLst/>
          </a:prstGeom>
          <a:ln w="25400">
            <a:solidFill>
              <a:srgbClr val="8F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818120" y="521208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8F67FF"/>
                </a:solidFill>
                <a:latin typeface="Aptos"/>
              </a:rPr>
              <a:t>TOOLS → problem selection • evaluation • interview actions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2881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4ADBE"/>
                </a:solidFill>
                <a:latin typeface="Aptos"/>
              </a:rPr>
              <a:t>DHRUV JAIN  •  DSA INTERVIEW PLATFORM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6528816"/>
            <a:ext cx="2423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ADBE"/>
                </a:solidFill>
                <a:latin typeface="Aptos"/>
              </a:rPr>
              <a:t>TECHNICAL PROJECT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DE0CD"/>
                </a:solidFill>
                <a:latin typeface="Aptos"/>
              </a:rPr>
              <a:t>02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A"/>
                </a:solidFill>
                <a:latin typeface="Aptos Display"/>
              </a:rPr>
              <a:t>Architecture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4ADBE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246120" cy="192024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1600200"/>
            <a:ext cx="914400" cy="292608"/>
          </a:xfrm>
          <a:prstGeom prst="roundRect">
            <a:avLst/>
          </a:prstGeom>
          <a:solidFill>
            <a:srgbClr val="2DE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32204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A0C14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75688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7FA"/>
                </a:solidFill>
                <a:latin typeface="Aptos Display"/>
              </a:rPr>
              <a:t>React /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51460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4ADBE"/>
                </a:solidFill>
                <a:latin typeface="Aptos"/>
              </a:rPr>
              <a:t>Problem catalogue
Interview workspace
Monaco editor
Voice controls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246120" cy="192024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44568" y="1600200"/>
            <a:ext cx="914400" cy="292608"/>
          </a:xfrm>
          <a:prstGeom prst="roundRect">
            <a:avLst/>
          </a:prstGeom>
          <a:solidFill>
            <a:srgbClr val="8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632204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A0C14"/>
                </a:solidFill>
                <a:latin typeface="Aptos"/>
              </a:rPr>
              <a:t>API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075688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7FA"/>
                </a:solidFill>
                <a:latin typeface="Aptos Display"/>
              </a:rPr>
              <a:t>FastAPI /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51460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4ADBE"/>
                </a:solidFill>
                <a:latin typeface="Aptos"/>
              </a:rPr>
              <a:t>Problem APIs
Session state
Evaluation orchestration
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417320"/>
            <a:ext cx="3246120" cy="192024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47888" y="1600200"/>
            <a:ext cx="914400" cy="292608"/>
          </a:xfrm>
          <a:prstGeom prst="roundRect">
            <a:avLst/>
          </a:prstGeom>
          <a:solidFill>
            <a:srgbClr val="FF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632204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A0C14"/>
                </a:solidFill>
                <a:latin typeface="Aptos"/>
              </a:rPr>
              <a:t>DATA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75688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7FA"/>
                </a:solidFill>
                <a:latin typeface="Aptos Display"/>
              </a:rPr>
              <a:t>Redis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51460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4ADBE"/>
                </a:solidFill>
                <a:latin typeface="Aptos"/>
              </a:rPr>
              <a:t>Problems
Interview state
Feedback/history
Search &amp; filters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49039"/>
            <a:ext cx="3246120" cy="192024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7" y="3931920"/>
            <a:ext cx="914400" cy="292608"/>
          </a:xfrm>
          <a:prstGeom prst="roundRect">
            <a:avLst/>
          </a:prstGeom>
          <a:solidFill>
            <a:srgbClr val="FF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963924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A0C14"/>
                </a:solidFill>
                <a:latin typeface="Aptos"/>
              </a:rPr>
              <a:t>AI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407407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7FA"/>
                </a:solidFill>
                <a:latin typeface="Aptos Display"/>
              </a:rPr>
              <a:t>OpenAI + LangChain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84632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4ADBE"/>
                </a:solidFill>
                <a:latin typeface="Aptos"/>
              </a:rPr>
              <a:t>Code/logic evaluation
Structured feedback
Reasoning analysis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749039"/>
            <a:ext cx="3246120" cy="192024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44568" y="3931920"/>
            <a:ext cx="914400" cy="292608"/>
          </a:xfrm>
          <a:prstGeom prst="roundRect">
            <a:avLst/>
          </a:prstGeom>
          <a:solidFill>
            <a:srgbClr val="5AE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4568" y="3963924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A0C14"/>
                </a:solidFill>
                <a:latin typeface="Aptos"/>
              </a:rPr>
              <a:t>VOICE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4407407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7FA"/>
                </a:solidFill>
                <a:latin typeface="Aptos Display"/>
              </a:rPr>
              <a:t>AssemblyAI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484632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4ADBE"/>
                </a:solidFill>
                <a:latin typeface="Aptos"/>
              </a:rPr>
              <a:t>Audio upload
Speech-to-text
Transcript for evaluation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3749039"/>
            <a:ext cx="3246120" cy="192024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47888" y="3931920"/>
            <a:ext cx="914400" cy="292608"/>
          </a:xfrm>
          <a:prstGeom prst="roundRect">
            <a:avLst/>
          </a:prstGeom>
          <a:solidFill>
            <a:srgbClr val="2DE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7888" y="3963924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A0C14"/>
                </a:solidFill>
                <a:latin typeface="Aptos"/>
              </a:rPr>
              <a:t>EXECUTION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4407407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7FA"/>
                </a:solidFill>
                <a:latin typeface="Aptos Display"/>
              </a:rPr>
              <a:t>Isolated Provider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484632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4ADBE"/>
                </a:solidFill>
                <a:latin typeface="Aptos"/>
              </a:rPr>
              <a:t>Run candidate code
Tests
Timeouts / runtime errors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2881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4ADBE"/>
                </a:solidFill>
                <a:latin typeface="Aptos"/>
              </a:rPr>
              <a:t>DHRUV JAIN  •  DSA INTERVIEW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6528816"/>
            <a:ext cx="2423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ADBE"/>
                </a:solidFill>
                <a:latin typeface="Aptos"/>
              </a:rPr>
              <a:t>TECHNICAL PROJECT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DE0CD"/>
                </a:solidFill>
                <a:latin typeface="Aptos"/>
              </a:rPr>
              <a:t>03 •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A"/>
                </a:solidFill>
                <a:latin typeface="Aptos Display"/>
              </a:rPr>
              <a:t>Solution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4ADBE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DE0CD"/>
                </a:solidFill>
                <a:latin typeface="Aptos Display"/>
              </a:rPr>
              <a:t>A problem is more than a title: it is the unit of interview state.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4983480" cy="3977639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4ADBE"/>
                </a:solidFill>
                <a:latin typeface="Aptos"/>
              </a:rPr>
              <a:t>problem.json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78608"/>
            <a:ext cx="4114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DE0CD"/>
                </a:solidFill>
                <a:latin typeface="Consolas"/>
              </a:rPr>
              <a:t>"id": "two_sum",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07791"/>
            <a:ext cx="4114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4F7FA"/>
                </a:solidFill>
                <a:latin typeface="Consolas"/>
              </a:rPr>
              <a:t>"title": "Two Sum",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36976"/>
            <a:ext cx="4114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C65C"/>
                </a:solidFill>
                <a:latin typeface="Consolas"/>
              </a:rPr>
              <a:t>"difficulty": "easy",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66160"/>
            <a:ext cx="4114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F67FF"/>
                </a:solidFill>
                <a:latin typeface="Consolas"/>
              </a:rPr>
              <a:t>"topic": "arrays",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95344"/>
            <a:ext cx="4114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4F7FA"/>
                </a:solidFill>
                <a:latin typeface="Consolas"/>
              </a:rPr>
              <a:t>"description": "...",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24527"/>
            <a:ext cx="4114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E18B"/>
                </a:solidFill>
                <a:latin typeface="Consolas"/>
              </a:rPr>
              <a:t>"examples": [ ... ],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553712"/>
            <a:ext cx="4114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E18B"/>
                </a:solidFill>
                <a:latin typeface="Consolas"/>
              </a:rPr>
              <a:t>"hints": [ ... ],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882896"/>
            <a:ext cx="4114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E18B"/>
                </a:solidFill>
                <a:latin typeface="Consolas"/>
              </a:rPr>
              <a:t>"constraints": [ ... ],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212079"/>
            <a:ext cx="4114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5B9B"/>
                </a:solidFill>
                <a:latin typeface="Consolas"/>
              </a:rPr>
              <a:t>"tags": ["Arrays"]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828800"/>
            <a:ext cx="5394960" cy="3977639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1031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4ADBE"/>
                </a:solidFill>
                <a:latin typeface="Aptos"/>
              </a:rPr>
              <a:t>INTERVIEW STATE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2606040"/>
            <a:ext cx="164592" cy="164592"/>
          </a:xfrm>
          <a:prstGeom prst="ellipse">
            <a:avLst/>
          </a:prstGeom>
          <a:solidFill>
            <a:srgbClr val="2DE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551176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4F7FA"/>
                </a:solidFill>
                <a:latin typeface="Aptos"/>
              </a:rPr>
              <a:t>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551176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ADBE"/>
                </a:solidFill>
                <a:latin typeface="Aptos"/>
              </a:rPr>
              <a:t>selected problem + difficulty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3172968"/>
            <a:ext cx="164592" cy="164592"/>
          </a:xfrm>
          <a:prstGeom prst="ellipse">
            <a:avLst/>
          </a:prstGeom>
          <a:solidFill>
            <a:srgbClr val="8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118104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4F7FA"/>
                </a:solidFill>
                <a:latin typeface="Aptos"/>
              </a:rPr>
              <a:t>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3118104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ADBE"/>
                </a:solidFill>
                <a:latin typeface="Aptos"/>
              </a:rPr>
              <a:t>current solution + execution result</a:t>
            </a:r>
          </a:p>
        </p:txBody>
      </p:sp>
      <p:sp>
        <p:nvSpPr>
          <p:cNvPr id="25" name="Oval 24"/>
          <p:cNvSpPr/>
          <p:nvPr/>
        </p:nvSpPr>
        <p:spPr>
          <a:xfrm>
            <a:off x="6355080" y="3739896"/>
            <a:ext cx="164592" cy="164592"/>
          </a:xfrm>
          <a:prstGeom prst="ellipse">
            <a:avLst/>
          </a:prstGeom>
          <a:solidFill>
            <a:srgbClr val="FF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685032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4F7FA"/>
                </a:solidFill>
                <a:latin typeface="Aptos"/>
              </a:rPr>
              <a:t>Voice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685032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ADBE"/>
                </a:solidFill>
                <a:latin typeface="Aptos"/>
              </a:rPr>
              <a:t>transcript + explanation</a:t>
            </a:r>
          </a:p>
        </p:txBody>
      </p:sp>
      <p:sp>
        <p:nvSpPr>
          <p:cNvPr id="28" name="Oval 27"/>
          <p:cNvSpPr/>
          <p:nvPr/>
        </p:nvSpPr>
        <p:spPr>
          <a:xfrm>
            <a:off x="6355080" y="4306824"/>
            <a:ext cx="164592" cy="164592"/>
          </a:xfrm>
          <a:prstGeom prst="ellipse">
            <a:avLst/>
          </a:prstGeom>
          <a:solidFill>
            <a:srgbClr val="FF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25196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4F7FA"/>
                </a:solidFill>
                <a:latin typeface="Aptos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4251960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ADBE"/>
                </a:solidFill>
                <a:latin typeface="Aptos"/>
              </a:rPr>
              <a:t>logic + clarity + correctness</a:t>
            </a:r>
          </a:p>
        </p:txBody>
      </p:sp>
      <p:sp>
        <p:nvSpPr>
          <p:cNvPr id="31" name="Oval 30"/>
          <p:cNvSpPr/>
          <p:nvPr/>
        </p:nvSpPr>
        <p:spPr>
          <a:xfrm>
            <a:off x="6355080" y="4873752"/>
            <a:ext cx="164592" cy="164592"/>
          </a:xfrm>
          <a:prstGeom prst="ellipse">
            <a:avLst/>
          </a:prstGeom>
          <a:solidFill>
            <a:srgbClr val="5AE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4818888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4F7FA"/>
                </a:solidFill>
                <a:latin typeface="Aptos"/>
              </a:rPr>
              <a:t>Progress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818888"/>
            <a:ext cx="3063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ADBE"/>
                </a:solidFill>
                <a:latin typeface="Aptos"/>
              </a:rPr>
              <a:t>history + scores + readiness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2881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4ADBE"/>
                </a:solidFill>
                <a:latin typeface="Aptos"/>
              </a:rPr>
              <a:t>DHRUV JAIN  •  DSA INTERVIEW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6528816"/>
            <a:ext cx="2423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ADBE"/>
                </a:solidFill>
                <a:latin typeface="Aptos"/>
              </a:rPr>
              <a:t>TECHNICAL PROJECT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DE0CD"/>
                </a:solidFill>
                <a:latin typeface="Aptos"/>
              </a:rPr>
              <a:t>03 •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A"/>
                </a:solidFill>
                <a:latin typeface="Aptos Display"/>
              </a:rPr>
              <a:t>AI evaluation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4ADBE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286000" cy="256032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DE0CD"/>
                </a:solidFill>
                <a:latin typeface="Aptos Display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5603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A"/>
                </a:solidFill>
                <a:latin typeface="Aptos Display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154680"/>
            <a:ext cx="1645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ADBE"/>
                </a:solidFill>
                <a:latin typeface="Aptos"/>
              </a:rPr>
              <a:t>Correctness
Complexity
Quality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3063240"/>
            <a:ext cx="530352" cy="0"/>
          </a:xfrm>
          <a:prstGeom prst="line">
            <a:avLst/>
          </a:prstGeom>
          <a:ln w="25400">
            <a:solidFill>
              <a:srgbClr val="2DE0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20440" y="1828800"/>
            <a:ext cx="2286000" cy="256032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F67FF"/>
                </a:solidFill>
                <a:latin typeface="Aptos Displa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5603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A"/>
                </a:solidFill>
                <a:latin typeface="Aptos Display"/>
              </a:rPr>
              <a:t>VOICE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3154680"/>
            <a:ext cx="1645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ADBE"/>
                </a:solidFill>
                <a:latin typeface="Aptos"/>
              </a:rPr>
              <a:t>Speech
Transcript
Explanation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06440" y="3063240"/>
            <a:ext cx="530352" cy="0"/>
          </a:xfrm>
          <a:prstGeom prst="line">
            <a:avLst/>
          </a:prstGeom>
          <a:ln w="25400">
            <a:solidFill>
              <a:srgbClr val="8F6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55080" y="1828800"/>
            <a:ext cx="2286000" cy="256032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5B9B"/>
                </a:solidFill>
                <a:latin typeface="Aptos Display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5603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A"/>
                </a:solidFill>
                <a:latin typeface="Aptos Display"/>
              </a:rPr>
              <a:t>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3154680"/>
            <a:ext cx="1645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ADBE"/>
                </a:solidFill>
                <a:latin typeface="Aptos"/>
              </a:rPr>
              <a:t>Reasoning
Comparison
Assessment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41080" y="3063240"/>
            <a:ext cx="530352" cy="0"/>
          </a:xfrm>
          <a:prstGeom prst="line">
            <a:avLst/>
          </a:prstGeom>
          <a:ln w="25400">
            <a:solidFill>
              <a:srgbClr val="FF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89720" y="1828800"/>
            <a:ext cx="2286000" cy="256032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8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C65C"/>
                </a:solidFill>
                <a:latin typeface="Aptos Display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25603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A"/>
                </a:solidFill>
                <a:latin typeface="Aptos Display"/>
              </a:rPr>
              <a:t>FEEDBACK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3154680"/>
            <a:ext cx="1645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ADBE"/>
                </a:solidFill>
                <a:latin typeface="Aptos"/>
              </a:rPr>
              <a:t>Scores
Strengths
Improvements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834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DE0CD"/>
                </a:solidFill>
                <a:latin typeface="Aptos Display"/>
              </a:rPr>
              <a:t>The goal is not “generate a score.”  The goal is to turn evidence into coaching.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2881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4ADBE"/>
                </a:solidFill>
                <a:latin typeface="Aptos"/>
              </a:rPr>
              <a:t>DHRUV JAIN  •  DSA INTERVIEW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528816"/>
            <a:ext cx="2423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ADBE"/>
                </a:solidFill>
                <a:latin typeface="Aptos"/>
              </a:rPr>
              <a:t>TECHNICAL PROJECT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DE0CD"/>
                </a:solidFill>
                <a:latin typeface="Aptos"/>
              </a:rPr>
              <a:t>03 • AGENTIC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A"/>
                </a:solidFill>
                <a:latin typeface="Aptos Display"/>
              </a:rPr>
              <a:t>Adaptive interviewer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4ADBE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5B9B"/>
                </a:solidFill>
                <a:latin typeface="Aptos Display"/>
              </a:rPr>
              <a:t>One agent. Stateful graph. Real interview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828800" cy="77724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359152"/>
            <a:ext cx="164592" cy="164592"/>
          </a:xfrm>
          <a:prstGeom prst="ellipse">
            <a:avLst/>
          </a:prstGeom>
          <a:solidFill>
            <a:srgbClr val="2DE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3312" y="2313432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7FA"/>
                </a:solidFill>
                <a:latin typeface="Aptos"/>
              </a:rPr>
              <a:t>LOAD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70048"/>
            <a:ext cx="1463040" cy="210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ADBE"/>
                </a:solidFill>
                <a:latin typeface="Aptos"/>
              </a:rPr>
              <a:t>candidate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194560"/>
            <a:ext cx="1828800" cy="77724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22191" y="2359152"/>
            <a:ext cx="164592" cy="164592"/>
          </a:xfrm>
          <a:prstGeom prst="ellipse">
            <a:avLst/>
          </a:prstGeom>
          <a:solidFill>
            <a:srgbClr val="8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6512" y="2313432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7FA"/>
                </a:solidFill>
                <a:latin typeface="Aptos"/>
              </a:rPr>
              <a:t>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670048"/>
            <a:ext cx="1463040" cy="210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ADBE"/>
                </a:solidFill>
                <a:latin typeface="Aptos"/>
              </a:rPr>
              <a:t>latest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94560"/>
            <a:ext cx="1828800" cy="77724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65392" y="2359152"/>
            <a:ext cx="164592" cy="164592"/>
          </a:xfrm>
          <a:prstGeom prst="ellipse">
            <a:avLst/>
          </a:prstGeom>
          <a:solidFill>
            <a:srgbClr val="FF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2313432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7FA"/>
                </a:solidFill>
                <a:latin typeface="Aptos"/>
              </a:rPr>
              <a:t>DECIDE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70048"/>
            <a:ext cx="1463040" cy="210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ADBE"/>
                </a:solidFill>
                <a:latin typeface="Aptos"/>
              </a:rPr>
              <a:t>next interview 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194560"/>
            <a:ext cx="1828800" cy="77724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08592" y="2359152"/>
            <a:ext cx="164592" cy="164592"/>
          </a:xfrm>
          <a:prstGeom prst="ellipse">
            <a:avLst/>
          </a:prstGeom>
          <a:solidFill>
            <a:srgbClr val="FF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2912" y="2313432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7FA"/>
                </a:solidFill>
                <a:latin typeface="Aptos"/>
              </a:rPr>
              <a:t>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670048"/>
            <a:ext cx="1463040" cy="210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ADBE"/>
                </a:solidFill>
                <a:latin typeface="Aptos"/>
              </a:rPr>
              <a:t>tool call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43200" y="2578608"/>
            <a:ext cx="914400" cy="0"/>
          </a:xfrm>
          <a:prstGeom prst="line">
            <a:avLst/>
          </a:prstGeom>
          <a:ln w="25400">
            <a:solidFill>
              <a:srgbClr val="2DE0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486400" y="2578608"/>
            <a:ext cx="914400" cy="0"/>
          </a:xfrm>
          <a:prstGeom prst="line">
            <a:avLst/>
          </a:prstGeom>
          <a:ln w="25400">
            <a:solidFill>
              <a:srgbClr val="2DE0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29600" y="2578608"/>
            <a:ext cx="914400" cy="0"/>
          </a:xfrm>
          <a:prstGeom prst="line">
            <a:avLst/>
          </a:prstGeom>
          <a:ln w="25400">
            <a:solidFill>
              <a:srgbClr val="2DE0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058400" y="2971800"/>
            <a:ext cx="0" cy="1645920"/>
          </a:xfrm>
          <a:prstGeom prst="line">
            <a:avLst/>
          </a:prstGeom>
          <a:ln w="21590">
            <a:solidFill>
              <a:srgbClr val="FF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828800" y="4617720"/>
            <a:ext cx="8229600" cy="0"/>
          </a:xfrm>
          <a:prstGeom prst="line">
            <a:avLst/>
          </a:prstGeom>
          <a:ln w="21590">
            <a:solidFill>
              <a:srgbClr val="FF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828800" y="2971800"/>
            <a:ext cx="0" cy="1645920"/>
          </a:xfrm>
          <a:prstGeom prst="line">
            <a:avLst/>
          </a:prstGeom>
          <a:ln w="21590">
            <a:solidFill>
              <a:srgbClr val="FF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160520" y="37947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4ADBE"/>
                </a:solidFill>
                <a:latin typeface="Aptos"/>
              </a:rPr>
              <a:t>TOOLS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160520"/>
            <a:ext cx="1417320" cy="292608"/>
          </a:xfrm>
          <a:prstGeom prst="roundRect">
            <a:avLst/>
          </a:prstGeom>
          <a:solidFill>
            <a:srgbClr val="2DE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4192524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A0C14"/>
                </a:solidFill>
                <a:latin typeface="Aptos"/>
              </a:rPr>
              <a:t>SELECT PROBLEM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77639" y="4160520"/>
            <a:ext cx="1051560" cy="292608"/>
          </a:xfrm>
          <a:prstGeom prst="roundRect">
            <a:avLst/>
          </a:prstGeom>
          <a:solidFill>
            <a:srgbClr val="8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77639" y="4192524"/>
            <a:ext cx="10515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A0C14"/>
                </a:solidFill>
                <a:latin typeface="Aptos"/>
              </a:rPr>
              <a:t>EVALUATE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3520" y="4160520"/>
            <a:ext cx="1143000" cy="292608"/>
          </a:xfrm>
          <a:prstGeom prst="roundRect">
            <a:avLst/>
          </a:prstGeom>
          <a:solidFill>
            <a:srgbClr val="FF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4192524"/>
            <a:ext cx="1143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A0C14"/>
                </a:solidFill>
                <a:latin typeface="Aptos"/>
              </a:rPr>
              <a:t>FOLLOW-UP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20840" y="4160520"/>
            <a:ext cx="685800" cy="292608"/>
          </a:xfrm>
          <a:prstGeom prst="roundRect">
            <a:avLst/>
          </a:prstGeom>
          <a:solidFill>
            <a:srgbClr val="FF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4192524"/>
            <a:ext cx="685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A0C14"/>
                </a:solidFill>
                <a:latin typeface="Aptos"/>
              </a:rPr>
              <a:t>HINT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80960" y="4160520"/>
            <a:ext cx="1417320" cy="292608"/>
          </a:xfrm>
          <a:prstGeom prst="roundRect">
            <a:avLst/>
          </a:prstGeom>
          <a:solidFill>
            <a:srgbClr val="5AE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0" y="4192524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A0C14"/>
                </a:solidFill>
                <a:latin typeface="Aptos"/>
              </a:rPr>
              <a:t>END / CONTINUE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5166360"/>
            <a:ext cx="8778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4ADBE"/>
                </a:solidFill>
                <a:latin typeface="Aptos Display"/>
              </a:rPr>
              <a:t>Possible decisions: change difficulty • ask follow-up • give hint • continue • end session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2881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4ADBE"/>
                </a:solidFill>
                <a:latin typeface="Aptos"/>
              </a:rPr>
              <a:t>DHRUV JAIN  •  DSA INTERVIEW PLATFORM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6528816"/>
            <a:ext cx="2423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ADBE"/>
                </a:solidFill>
                <a:latin typeface="Aptos"/>
              </a:rPr>
              <a:t>TECHNICAL PROJECT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DE0CD"/>
                </a:solidFill>
                <a:latin typeface="Aptos"/>
              </a:rPr>
              <a:t>03 •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A"/>
                </a:solidFill>
                <a:latin typeface="Aptos Display"/>
              </a:rPr>
              <a:t>Design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4ADBE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73152" cy="868680"/>
          </a:xfrm>
          <a:prstGeom prst="rect">
            <a:avLst/>
          </a:prstGeom>
          <a:solidFill>
            <a:srgbClr val="2DE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E0CD"/>
                </a:solidFill>
                <a:latin typeface="Aptos"/>
              </a:rPr>
              <a:t>SIMPLE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453896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7FA"/>
                </a:solidFill>
                <a:latin typeface="Aptos"/>
              </a:rPr>
              <a:t>Build deterministic workflow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1453896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4ADBE"/>
                </a:solidFill>
                <a:latin typeface="Aptos"/>
              </a:rPr>
              <a:t>Trade-off: Clear separation of baseline and agentic scope.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73152" cy="868680"/>
          </a:xfrm>
          <a:prstGeom prst="rect">
            <a:avLst/>
          </a:prstGeom>
          <a:solidFill>
            <a:srgbClr val="8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F67FF"/>
                </a:solidFill>
                <a:latin typeface="Aptos"/>
              </a:rPr>
              <a:t>MANAGED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642616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7FA"/>
                </a:solidFill>
                <a:latin typeface="Aptos"/>
              </a:rPr>
              <a:t>Use external specialized providers.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42616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4ADBE"/>
                </a:solidFill>
                <a:latin typeface="Aptos"/>
              </a:rPr>
              <a:t>Trade-off: Less infrastructure; more vendor reliance.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94760"/>
            <a:ext cx="73152" cy="868680"/>
          </a:xfrm>
          <a:prstGeom prst="rect">
            <a:avLst/>
          </a:prstGeom>
          <a:solidFill>
            <a:srgbClr val="FF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6791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5B9B"/>
                </a:solidFill>
                <a:latin typeface="Aptos"/>
              </a:rPr>
              <a:t>ONE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831336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7FA"/>
                </a:solidFill>
                <a:latin typeface="Aptos"/>
              </a:rPr>
              <a:t>Adaptive Interviewer rather than many agents.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831336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4ADBE"/>
                </a:solidFill>
                <a:latin typeface="Aptos"/>
              </a:rPr>
              <a:t>Trade-off: Lower orchestration overhead.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83480"/>
            <a:ext cx="73152" cy="868680"/>
          </a:xfrm>
          <a:prstGeom prst="rect">
            <a:avLst/>
          </a:prstGeom>
          <a:solidFill>
            <a:srgbClr val="FF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5663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C65C"/>
                </a:solidFill>
                <a:latin typeface="Aptos"/>
              </a:rPr>
              <a:t>REDIS-FIRST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5020056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7FA"/>
                </a:solidFill>
                <a:latin typeface="Aptos"/>
              </a:rPr>
              <a:t>Keep interview state close to the app.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5020056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4ADBE"/>
                </a:solidFill>
                <a:latin typeface="Aptos"/>
              </a:rPr>
              <a:t>Trade-off: Simple persistence + search foundation.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66928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DE0CD"/>
                </a:solidFill>
                <a:latin typeface="Aptos"/>
              </a:rPr>
              <a:t>ENGINEERING PRINCIPLE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5596128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A"/>
                </a:solidFill>
                <a:latin typeface="Aptos Display"/>
              </a:rPr>
              <a:t>Add complexity only when it creates observable product value.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2881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4ADBE"/>
                </a:solidFill>
                <a:latin typeface="Aptos"/>
              </a:rPr>
              <a:t>DHRUV JAIN  •  DSA INTERVIEW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528816"/>
            <a:ext cx="2423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ADBE"/>
                </a:solidFill>
                <a:latin typeface="Aptos"/>
              </a:rPr>
              <a:t>TECHNICAL PROJECT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DE0CD"/>
                </a:solidFill>
                <a:latin typeface="Aptos"/>
              </a:rPr>
              <a:t>04 • TEST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A"/>
                </a:solidFill>
                <a:latin typeface="Aptos Display"/>
              </a:rPr>
              <a:t>Automated test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4ADBE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074920" cy="178308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09928"/>
            <a:ext cx="914400" cy="292608"/>
          </a:xfrm>
          <a:prstGeom prst="roundRect">
            <a:avLst/>
          </a:prstGeom>
          <a:solidFill>
            <a:srgbClr val="2DE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1931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A0C14"/>
                </a:solidFill>
                <a:latin typeface="Aptos"/>
              </a:rPr>
              <a:t>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7FA"/>
                </a:solidFill>
                <a:latin typeface="Aptos Display"/>
              </a:rPr>
              <a:t>Fast + deterministic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8775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4ADBE"/>
                </a:solidFill>
                <a:latin typeface="Aptos"/>
              </a:rPr>
              <a:t>Filtering • validation • data parsing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08760"/>
            <a:ext cx="5074920" cy="178308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7960" y="1709928"/>
            <a:ext cx="914400" cy="292608"/>
          </a:xfrm>
          <a:prstGeom prst="roundRect">
            <a:avLst/>
          </a:prstGeom>
          <a:solidFill>
            <a:srgbClr val="8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741931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A0C14"/>
                </a:solidFill>
                <a:latin typeface="Aptos"/>
              </a:rPr>
              <a:t>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67128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7FA"/>
                </a:solidFill>
                <a:latin typeface="Aptos Display"/>
              </a:rPr>
              <a:t>Service boundaries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58775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4ADBE"/>
                </a:solidFill>
                <a:latin typeface="Aptos"/>
              </a:rPr>
              <a:t>FastAPI ↔ Redis ↔ AI/STT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5074920" cy="178308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858768"/>
            <a:ext cx="914400" cy="292608"/>
          </a:xfrm>
          <a:prstGeom prst="roundRect">
            <a:avLst/>
          </a:prstGeom>
          <a:solidFill>
            <a:srgbClr val="FF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90772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A0C14"/>
                </a:solidFill>
                <a:latin typeface="Aptos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15968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7FA"/>
                </a:solidFill>
                <a:latin typeface="Aptos Display"/>
              </a:rPr>
              <a:t>Unsafe inputs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3659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4ADBE"/>
                </a:solidFill>
                <a:latin typeface="Aptos"/>
              </a:rPr>
              <a:t>Wrong answer • runtime • timeout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57600"/>
            <a:ext cx="5074920" cy="1783080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37960" y="3858768"/>
            <a:ext cx="914400" cy="292608"/>
          </a:xfrm>
          <a:prstGeom prst="roundRect">
            <a:avLst/>
          </a:prstGeom>
          <a:solidFill>
            <a:srgbClr val="FF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890772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A0C14"/>
                </a:solidFill>
                <a:latin typeface="Aptos"/>
              </a:rPr>
              <a:t>E2E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315968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7FA"/>
                </a:solidFill>
                <a:latin typeface="Aptos Display"/>
              </a:rPr>
              <a:t>Critical journey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73659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4ADBE"/>
                </a:solidFill>
                <a:latin typeface="Aptos"/>
              </a:rPr>
              <a:t>Select → solve → speak → evaluate →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715000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DE0CD"/>
                </a:solidFill>
                <a:latin typeface="Aptos"/>
              </a:rPr>
              <a:t>TEST PYRAMID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641848"/>
            <a:ext cx="8869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7FA"/>
                </a:solidFill>
                <a:latin typeface="Aptos"/>
              </a:rPr>
              <a:t>Deterministic coverage first  →  integration second  →  E2E on critical paths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2881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4ADBE"/>
                </a:solidFill>
                <a:latin typeface="Aptos"/>
              </a:rPr>
              <a:t>DHRUV JAIN  •  DSA INTERVIEW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528816"/>
            <a:ext cx="2423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ADBE"/>
                </a:solidFill>
                <a:latin typeface="Aptos"/>
              </a:rPr>
              <a:t>TECHNICAL PROJECT REVIEW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DE0CD"/>
                </a:solidFill>
                <a:latin typeface="Aptos"/>
              </a:rPr>
              <a:t>04 • TEST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A"/>
                </a:solidFill>
                <a:latin typeface="Aptos Display"/>
              </a:rPr>
              <a:t>Critical test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4ADBE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ADBE"/>
                </a:solidFill>
                <a:latin typeface="Aptos"/>
              </a:rPr>
              <a:t>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29844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ADBE"/>
                </a:solidFill>
                <a:latin typeface="Aptos"/>
              </a:rPr>
              <a:t>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298448"/>
            <a:ext cx="3886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ADBE"/>
                </a:solidFill>
                <a:latin typeface="Aptos"/>
              </a:rPr>
              <a:t>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1298448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ADBE"/>
                </a:solidFill>
                <a:latin typeface="Aptos"/>
              </a:rPr>
              <a:t>LEVEL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64208"/>
            <a:ext cx="10744200" cy="658368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4708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4F7FA"/>
                </a:solidFill>
                <a:latin typeface="Aptos"/>
              </a:rPr>
              <a:t>Problem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847088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ADBE"/>
                </a:solidFill>
                <a:latin typeface="Aptos"/>
              </a:rPr>
              <a:t>Invalid ID /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792224"/>
            <a:ext cx="4069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ADBE"/>
                </a:solidFill>
                <a:latin typeface="Aptos"/>
              </a:rPr>
              <a:t>Correct validation; no incorrect problem returned.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1828800"/>
            <a:ext cx="1051560" cy="292608"/>
          </a:xfrm>
          <a:prstGeom prst="roundRect">
            <a:avLst/>
          </a:prstGeom>
          <a:solidFill>
            <a:srgbClr val="FF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1860804"/>
            <a:ext cx="10515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A0C14"/>
                </a:solidFill>
                <a:latin typeface="Aptos"/>
              </a:rPr>
              <a:t>CRITICAL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14016"/>
            <a:ext cx="10744200" cy="658368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596896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4F7FA"/>
                </a:solidFill>
                <a:latin typeface="Aptos"/>
              </a:rPr>
              <a:t>Code 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96896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ADBE"/>
                </a:solidFill>
                <a:latin typeface="Aptos"/>
              </a:rPr>
              <a:t>Runtime error / timeout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542032"/>
            <a:ext cx="4069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ADBE"/>
                </a:solidFill>
                <a:latin typeface="Aptos"/>
              </a:rPr>
              <a:t>Sandbox failure surfaced; API stays stable.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2578608"/>
            <a:ext cx="1051560" cy="292608"/>
          </a:xfrm>
          <a:prstGeom prst="roundRect">
            <a:avLst/>
          </a:prstGeom>
          <a:solidFill>
            <a:srgbClr val="FF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2610612"/>
            <a:ext cx="10515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A0C14"/>
                </a:solidFill>
                <a:latin typeface="Aptos"/>
              </a:rPr>
              <a:t>CRITICAL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163824"/>
            <a:ext cx="10744200" cy="658368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346704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4F7FA"/>
                </a:solidFill>
                <a:latin typeface="Aptos"/>
              </a:rPr>
              <a:t>Voice / STT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346704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ADBE"/>
                </a:solidFill>
                <a:latin typeface="Aptos"/>
              </a:rPr>
              <a:t>Empty / failed audio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291840"/>
            <a:ext cx="4069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ADBE"/>
                </a:solidFill>
                <a:latin typeface="Aptos"/>
              </a:rPr>
              <a:t>Graceful error and retry path.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3328416"/>
            <a:ext cx="1051560" cy="292608"/>
          </a:xfrm>
          <a:prstGeom prst="roundRect">
            <a:avLst/>
          </a:prstGeom>
          <a:solidFill>
            <a:srgbClr val="FF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3360420"/>
            <a:ext cx="10515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A0C14"/>
                </a:solidFill>
                <a:latin typeface="Aptos"/>
              </a:rPr>
              <a:t>HIGH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913632"/>
            <a:ext cx="10744200" cy="658368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09651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4F7FA"/>
                </a:solidFill>
                <a:latin typeface="Aptos"/>
              </a:rPr>
              <a:t>AI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4096512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ADBE"/>
                </a:solidFill>
                <a:latin typeface="Aptos"/>
              </a:rPr>
              <a:t>Provider failure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041648"/>
            <a:ext cx="4069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ADBE"/>
                </a:solidFill>
                <a:latin typeface="Aptos"/>
              </a:rPr>
              <a:t>Controlled error; session is not lost.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4078224"/>
            <a:ext cx="1051560" cy="292608"/>
          </a:xfrm>
          <a:prstGeom prst="roundRect">
            <a:avLst/>
          </a:prstGeom>
          <a:solidFill>
            <a:srgbClr val="FF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0" y="4110228"/>
            <a:ext cx="10515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A0C14"/>
                </a:solidFill>
                <a:latin typeface="Aptos"/>
              </a:rPr>
              <a:t>HIGH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663440"/>
            <a:ext cx="10744200" cy="658368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846320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4F7FA"/>
                </a:solidFill>
                <a:latin typeface="Aptos"/>
              </a:rPr>
              <a:t>Redis Cloud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84632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ADBE"/>
                </a:solidFill>
                <a:latin typeface="Aptos"/>
              </a:rPr>
              <a:t>Connection failure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4791456"/>
            <a:ext cx="4069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ADBE"/>
                </a:solidFill>
                <a:latin typeface="Aptos"/>
              </a:rPr>
              <a:t>Datastore outage handled safely.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75520" y="4828032"/>
            <a:ext cx="1051560" cy="292608"/>
          </a:xfrm>
          <a:prstGeom prst="roundRect">
            <a:avLst/>
          </a:prstGeom>
          <a:solidFill>
            <a:srgbClr val="FF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0" y="4860036"/>
            <a:ext cx="10515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A0C14"/>
                </a:solidFill>
                <a:latin typeface="Aptos"/>
              </a:rPr>
              <a:t>HIGH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413248"/>
            <a:ext cx="10744200" cy="658368"/>
          </a:xfrm>
          <a:prstGeom prst="roundRect">
            <a:avLst/>
          </a:prstGeom>
          <a:solidFill>
            <a:srgbClr val="181C2B"/>
          </a:solidFill>
          <a:ln>
            <a:solidFill>
              <a:srgbClr val="313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59612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4F7FA"/>
                </a:solidFill>
                <a:latin typeface="Aptos"/>
              </a:rPr>
              <a:t>Interview 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97480" y="5596128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ADBE"/>
                </a:solidFill>
                <a:latin typeface="Aptos"/>
              </a:rPr>
              <a:t>Session completion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5541264"/>
            <a:ext cx="4069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4ADBE"/>
                </a:solidFill>
                <a:latin typeface="Aptos"/>
              </a:rPr>
              <a:t>Final feedback persisted and retrievable.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75520" y="5577840"/>
            <a:ext cx="1051560" cy="292608"/>
          </a:xfrm>
          <a:prstGeom prst="roundRect">
            <a:avLst/>
          </a:prstGeom>
          <a:solidFill>
            <a:srgbClr val="5AE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75520" y="5609844"/>
            <a:ext cx="10515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0A0C14"/>
                </a:solidFill>
                <a:latin typeface="Aptos"/>
              </a:rPr>
              <a:t>MEDIUM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52881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4ADBE"/>
                </a:solidFill>
                <a:latin typeface="Aptos"/>
              </a:rPr>
              <a:t>DHRUV JAIN  •  DSA INTERVIEW PLATFORM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6528816"/>
            <a:ext cx="2423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ADBE"/>
                </a:solidFill>
                <a:latin typeface="Aptos"/>
              </a:rPr>
              <a:t>TECHNICAL PROJECT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4F7FA"/>
                </a:solidFill>
                <a:latin typeface="Aptos Display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4688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DE0CD"/>
                </a:solidFill>
                <a:latin typeface="Aptos"/>
              </a:rPr>
              <a:t>Architecture • Implementation •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5468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4ADBE"/>
                </a:solidFill>
                <a:latin typeface="Aptos Display"/>
              </a:rPr>
              <a:t>Ready for technical critique,
architecture validation and alignment.</a:t>
            </a:r>
          </a:p>
        </p:txBody>
      </p:sp>
      <p:sp>
        <p:nvSpPr>
          <p:cNvPr id="5" name="Oval 4"/>
          <p:cNvSpPr/>
          <p:nvPr/>
        </p:nvSpPr>
        <p:spPr>
          <a:xfrm>
            <a:off x="8229600" y="1828800"/>
            <a:ext cx="502920" cy="502920"/>
          </a:xfrm>
          <a:prstGeom prst="ellipse">
            <a:avLst/>
          </a:prstGeom>
          <a:solidFill>
            <a:srgbClr val="2DE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0" y="3017520"/>
            <a:ext cx="502920" cy="502920"/>
          </a:xfrm>
          <a:prstGeom prst="ellipse">
            <a:avLst/>
          </a:prstGeom>
          <a:solidFill>
            <a:srgbClr val="8F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458200" y="2084831"/>
            <a:ext cx="1645920" cy="1161289"/>
          </a:xfrm>
          <a:prstGeom prst="line">
            <a:avLst/>
          </a:prstGeom>
          <a:ln w="12700">
            <a:solidFill>
              <a:srgbClr val="32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589520" y="4206240"/>
            <a:ext cx="502920" cy="502920"/>
          </a:xfrm>
          <a:prstGeom prst="ellipse">
            <a:avLst/>
          </a:prstGeom>
          <a:solidFill>
            <a:srgbClr val="FF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H="1">
            <a:off x="7818120" y="2084831"/>
            <a:ext cx="640080" cy="2350009"/>
          </a:xfrm>
          <a:prstGeom prst="line">
            <a:avLst/>
          </a:prstGeom>
          <a:ln w="12700">
            <a:solidFill>
              <a:srgbClr val="32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601200" y="4846320"/>
            <a:ext cx="502920" cy="502920"/>
          </a:xfrm>
          <a:prstGeom prst="ellipse">
            <a:avLst/>
          </a:prstGeom>
          <a:solidFill>
            <a:srgbClr val="FFC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458200" y="2084831"/>
            <a:ext cx="1371600" cy="2990089"/>
          </a:xfrm>
          <a:prstGeom prst="line">
            <a:avLst/>
          </a:prstGeom>
          <a:ln w="12700">
            <a:solidFill>
              <a:srgbClr val="32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580644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4F7FA"/>
                </a:solidFill>
                <a:latin typeface="Aptos"/>
              </a:rPr>
              <a:t>MADE BY DHRUV JAIN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28816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4ADBE"/>
                </a:solidFill>
                <a:latin typeface="Aptos"/>
              </a:rPr>
              <a:t>DHRUV JAIN  •  DSA INTERVIEW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528816"/>
            <a:ext cx="2423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A4ADBE"/>
                </a:solidFill>
                <a:latin typeface="Aptos"/>
              </a:rPr>
              <a:t>TECHNICAL PROJECT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