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528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7F4E4"/>
                </a:solidFill>
                <a:latin typeface="Georgia"/>
              </a:rPr>
              <a:t>Technical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ptos"/>
              </a:rPr>
              <a:t>AI-Powered DSA Interview Preparation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4572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C7A9"/>
                </a:solidFill>
                <a:latin typeface="Aptos"/>
              </a:rPr>
              <a:t>ENGINEERING PROJECT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577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7F4E4"/>
                </a:solidFill>
                <a:latin typeface="Aptos"/>
              </a:rPr>
              <a:t>Made by Dhruv Jain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53E66"/>
                </a:solidFill>
                <a:latin typeface="Georgia"/>
              </a:rPr>
              <a:t>Review Pillars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463040"/>
            <a:ext cx="23317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463040"/>
            <a:ext cx="54864" cy="4343400"/>
          </a:xfrm>
          <a:prstGeom prst="rect">
            <a:avLst/>
          </a:prstGeom>
          <a:solidFill>
            <a:srgbClr val="1CC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53E66"/>
                </a:solidFill>
                <a:latin typeface="Georgia"/>
              </a:rPr>
              <a:t>1.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2011679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9"/>
                </a:solidFill>
                <a:latin typeface="Aptos"/>
              </a:rPr>
              <a:t>Define the DSA interview-prep problem, user workflow, and baseline scope.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3317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463040"/>
            <a:ext cx="54864" cy="4343400"/>
          </a:xfrm>
          <a:prstGeom prst="rect">
            <a:avLst/>
          </a:prstGeom>
          <a:solidFill>
            <a:srgbClr val="1CC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600200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53E66"/>
                </a:solidFill>
                <a:latin typeface="Georgia"/>
              </a:rPr>
              <a:t>2.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029968"/>
            <a:ext cx="2011679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9"/>
                </a:solidFill>
                <a:latin typeface="Aptos"/>
              </a:rPr>
              <a:t>High-level system design, component interactions, data flow, and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63040"/>
            <a:ext cx="23317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463040"/>
            <a:ext cx="54864" cy="4343400"/>
          </a:xfrm>
          <a:prstGeom prst="rect">
            <a:avLst/>
          </a:prstGeom>
          <a:solidFill>
            <a:srgbClr val="1CC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00200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53E66"/>
                </a:solidFill>
                <a:latin typeface="Georgia"/>
              </a:rPr>
              <a:t>3. Solution (TDD)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29968"/>
            <a:ext cx="2011679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9"/>
                </a:solidFill>
                <a:latin typeface="Aptos"/>
              </a:rPr>
              <a:t>Technical design, APIs, data model, AI integrations, and agentic extension.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463040"/>
            <a:ext cx="23317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0" y="1463040"/>
            <a:ext cx="54864" cy="4343400"/>
          </a:xfrm>
          <a:prstGeom prst="rect">
            <a:avLst/>
          </a:prstGeom>
          <a:solidFill>
            <a:srgbClr val="1CC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1600200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53E66"/>
                </a:solidFill>
                <a:latin typeface="Georgia"/>
              </a:rPr>
              <a:t>4. Test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2029968"/>
            <a:ext cx="2011679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9"/>
                </a:solidFill>
                <a:latin typeface="Aptos"/>
              </a:rPr>
              <a:t>Functional coverage, critical scenarios, integrations, and dataset validation.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D7D"/>
                </a:solidFill>
                <a:latin typeface="Aptos"/>
              </a:rPr>
              <a:t>DSA Interview Platform  |  Dhruv Jain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528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7F4E4"/>
                </a:solidFill>
                <a:latin typeface="Georgia"/>
              </a:rPr>
              <a:t>1. The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C7A9"/>
                </a:solidFill>
                <a:latin typeface="Georgia"/>
              </a:rPr>
              <a:t>Traditional DSA practice evaluates the final code, but not how a candidate thinks and communicates during an interview.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488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7F4E4"/>
                </a:solidFill>
                <a:latin typeface="Aptos"/>
              </a:defRPr>
            </a:pPr>
            <a:r>
              <a:t>• Practice gap: candidates need to explain approach, edge cases, complexity, and trade-offs aloud.</a:t>
            </a:r>
          </a:p>
          <a:p>
            <a:pPr>
              <a:spcAft>
                <a:spcPts val="800"/>
              </a:spcAft>
              <a:defRPr sz="1300">
                <a:solidFill>
                  <a:srgbClr val="F7F4E4"/>
                </a:solidFill>
                <a:latin typeface="Aptos"/>
              </a:defRPr>
            </a:pPr>
            <a:r>
              <a:t>• Feedback gap: coding platforms provide limited recruiter-style assessment of communication and reasoning.</a:t>
            </a:r>
          </a:p>
          <a:p>
            <a:pPr>
              <a:spcAft>
                <a:spcPts val="800"/>
              </a:spcAft>
              <a:defRPr sz="1300">
                <a:solidFill>
                  <a:srgbClr val="F7F4E4"/>
                </a:solidFill>
                <a:latin typeface="Aptos"/>
              </a:defRPr>
            </a:pPr>
            <a:r>
              <a:t>• Adaptation gap: a fixed problem sequence does not react to candidate performance.</a:t>
            </a:r>
          </a:p>
          <a:p>
            <a:pPr>
              <a:spcAft>
                <a:spcPts val="800"/>
              </a:spcAft>
              <a:defRPr sz="1300">
                <a:solidFill>
                  <a:srgbClr val="F7F4E4"/>
                </a:solidFill>
                <a:latin typeface="Aptos"/>
              </a:defRPr>
            </a:pPr>
            <a:r>
              <a:t>• Integration gap: code, voice, transcription, AI evaluation, and history are often separate experiences.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25880"/>
            <a:ext cx="4846320" cy="4206240"/>
          </a:xfrm>
          <a:prstGeom prst="roundRect">
            <a:avLst/>
          </a:prstGeom>
          <a:solidFill>
            <a:srgbClr val="053E66"/>
          </a:solidFill>
          <a:ln>
            <a:solidFill>
              <a:srgbClr val="05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0" y="1325880"/>
            <a:ext cx="54864" cy="4206240"/>
          </a:xfrm>
          <a:prstGeom prst="rect">
            <a:avLst/>
          </a:prstGeom>
          <a:solidFill>
            <a:srgbClr val="1CC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463039"/>
            <a:ext cx="4526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7F4E4"/>
                </a:solidFill>
                <a:latin typeface="Georgia"/>
              </a:rPr>
              <a:t>Target User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892807"/>
            <a:ext cx="4526280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Choose a DSA problem → solve in an editor → explain by voice → transcribe → evaluate code + reasoning → receive interview-style feedback → retain session history.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4983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C7A9"/>
                </a:solidFill>
                <a:latin typeface="Aptos"/>
              </a:rPr>
              <a:t>MVP: 24 curated problems across 8 DSA topics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DD2"/>
                </a:solidFill>
                <a:latin typeface="Aptos"/>
              </a:rPr>
              <a:t>DSA Interview Platform  |  Dhruv Jain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53E66"/>
                </a:solidFill>
                <a:latin typeface="Georgia"/>
              </a:rPr>
              <a:t>2. Target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C7A9"/>
                </a:solidFill>
                <a:latin typeface="Georgia"/>
              </a:rPr>
              <a:t>Hybrid AI application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4800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5A6469"/>
                </a:solidFill>
                <a:latin typeface="Aptos"/>
              </a:defRPr>
            </a:pPr>
            <a:r>
              <a:t>• React/Vite frontend provides problem selection and interview workspace.</a:t>
            </a:r>
          </a:p>
          <a:p>
            <a:pPr>
              <a:spcAft>
                <a:spcPts val="800"/>
              </a:spcAft>
              <a:defRPr sz="1220">
                <a:solidFill>
                  <a:srgbClr val="5A6469"/>
                </a:solidFill>
                <a:latin typeface="Aptos"/>
              </a:defRPr>
            </a:pPr>
            <a:r>
              <a:t>• FastAPI is the application/API boundary.</a:t>
            </a:r>
          </a:p>
          <a:p>
            <a:pPr>
              <a:spcAft>
                <a:spcPts val="800"/>
              </a:spcAft>
              <a:defRPr sz="1220">
                <a:solidFill>
                  <a:srgbClr val="5A6469"/>
                </a:solidFill>
                <a:latin typeface="Aptos"/>
              </a:defRPr>
            </a:pPr>
            <a:r>
              <a:t>• Redis Cloud stores problems, interview state, feedback, history, and search data.</a:t>
            </a:r>
          </a:p>
          <a:p>
            <a:pPr>
              <a:spcAft>
                <a:spcPts val="800"/>
              </a:spcAft>
              <a:defRPr sz="1220">
                <a:solidFill>
                  <a:srgbClr val="5A6469"/>
                </a:solidFill>
                <a:latin typeface="Aptos"/>
              </a:defRPr>
            </a:pPr>
            <a:r>
              <a:t>• OpenAI via LangChain handles AI evaluation; AssemblyAI handles speech-to-text.</a:t>
            </a:r>
          </a:p>
          <a:p>
            <a:pPr>
              <a:spcAft>
                <a:spcPts val="800"/>
              </a:spcAft>
              <a:defRPr sz="1220">
                <a:solidFill>
                  <a:srgbClr val="5A6469"/>
                </a:solidFill>
                <a:latin typeface="Aptos"/>
              </a:defRPr>
            </a:pPr>
            <a:r>
              <a:t>• Candidate code runs through an isolated execution provider.</a:t>
            </a:r>
          </a:p>
          <a:p>
            <a:pPr>
              <a:spcAft>
                <a:spcPts val="800"/>
              </a:spcAft>
              <a:defRPr sz="1220">
                <a:solidFill>
                  <a:srgbClr val="5A6469"/>
                </a:solidFill>
                <a:latin typeface="Aptos"/>
              </a:defRPr>
            </a:pPr>
            <a:r>
              <a:t>• LangGraph Adaptive Interviewer is added after the deterministic baseline is validated.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1051560"/>
            <a:ext cx="1280160" cy="502920"/>
          </a:xfrm>
          <a:prstGeom prst="roundRect">
            <a:avLst/>
          </a:prstGeom>
          <a:solidFill>
            <a:srgbClr val="075284"/>
          </a:solidFill>
          <a:ln>
            <a:solidFill>
              <a:srgbClr val="1CC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Candidate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828800"/>
            <a:ext cx="1920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CC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53E66"/>
                </a:solidFill>
                <a:latin typeface="Aptos"/>
              </a:rPr>
              <a:t>React / Vite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743200"/>
            <a:ext cx="1920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CC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53E66"/>
                </a:solidFill>
                <a:latin typeface="Aptos"/>
              </a:rPr>
              <a:t>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2743200"/>
            <a:ext cx="1920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CC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53E66"/>
                </a:solidFill>
                <a:latin typeface="Aptos"/>
              </a:rPr>
              <a:t>Redis Cloud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508760"/>
            <a:ext cx="21031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CC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53E66"/>
                </a:solidFill>
                <a:latin typeface="Aptos"/>
              </a:rPr>
              <a:t>OpenAI +
LangChain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886200"/>
            <a:ext cx="18288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CC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53E66"/>
                </a:solidFill>
                <a:latin typeface="Aptos"/>
              </a:rPr>
              <a:t>AssemblyAI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3886200"/>
            <a:ext cx="21945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CC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53E66"/>
                </a:solidFill>
                <a:latin typeface="Aptos"/>
              </a:rPr>
              <a:t>Isolated Code
Execution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29400" y="1554480"/>
            <a:ext cx="0" cy="274320"/>
          </a:xfrm>
          <a:prstGeom prst="line">
            <a:avLst/>
          </a:prstGeom>
          <a:ln w="25400">
            <a:solidFill>
              <a:srgbClr val="1CC7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29400" y="2423160"/>
            <a:ext cx="0" cy="320040"/>
          </a:xfrm>
          <a:prstGeom prst="line">
            <a:avLst/>
          </a:prstGeom>
          <a:ln w="25400">
            <a:solidFill>
              <a:srgbClr val="1CC7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89520" y="3017520"/>
            <a:ext cx="868680" cy="0"/>
          </a:xfrm>
          <a:prstGeom prst="line">
            <a:avLst/>
          </a:prstGeom>
          <a:ln w="25400">
            <a:solidFill>
              <a:srgbClr val="1CC7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589520" y="1874519"/>
            <a:ext cx="777240" cy="1005841"/>
          </a:xfrm>
          <a:prstGeom prst="line">
            <a:avLst/>
          </a:prstGeom>
          <a:ln w="25400">
            <a:solidFill>
              <a:srgbClr val="1CC7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589520" y="3291840"/>
            <a:ext cx="914400" cy="822960"/>
          </a:xfrm>
          <a:prstGeom prst="line">
            <a:avLst/>
          </a:prstGeom>
          <a:ln w="25400">
            <a:solidFill>
              <a:srgbClr val="1CC7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372600" y="4892040"/>
            <a:ext cx="2103120" cy="731520"/>
          </a:xfrm>
          <a:prstGeom prst="roundRect">
            <a:avLst/>
          </a:prstGeom>
          <a:solidFill>
            <a:srgbClr val="053E66"/>
          </a:solidFill>
          <a:ln>
            <a:solidFill>
              <a:srgbClr val="1CC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LangGraph
Adaptive Interviewer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72600" y="3337560"/>
            <a:ext cx="960120" cy="1554480"/>
          </a:xfrm>
          <a:prstGeom prst="line">
            <a:avLst/>
          </a:prstGeom>
          <a:ln w="25400">
            <a:solidFill>
              <a:srgbClr val="1CC7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D7D"/>
                </a:solidFill>
                <a:latin typeface="Aptos"/>
              </a:rPr>
              <a:t>DSA Interview Platform  |  Dhruv Jain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53E66"/>
                </a:solidFill>
                <a:latin typeface="Georgia"/>
              </a:rPr>
              <a:t>Architecture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8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54864" cy="4526280"/>
          </a:xfrm>
          <a:prstGeom prst="rect">
            <a:avLst/>
          </a:prstGeom>
          <a:solidFill>
            <a:srgbClr val="1CC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53E66"/>
                </a:solidFill>
                <a:latin typeface="Georgia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9928"/>
            <a:ext cx="3200400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9"/>
                </a:solidFill>
                <a:latin typeface="Aptos"/>
              </a:rPr>
              <a:t>React + Vite
• Problem catalogue and filters
• Interview workspace
• Monaco coding editor
• Voice recording
• Results and feedback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4300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8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143000"/>
            <a:ext cx="54864" cy="4526280"/>
          </a:xfrm>
          <a:prstGeom prst="rect">
            <a:avLst/>
          </a:prstGeom>
          <a:solidFill>
            <a:srgbClr val="1CC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53E66"/>
                </a:solidFill>
                <a:latin typeface="Georgia"/>
              </a:rPr>
              <a:t>Application /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709928"/>
            <a:ext cx="3200400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9"/>
                </a:solidFill>
                <a:latin typeface="Aptos"/>
              </a:rPr>
              <a:t>FastAPI + Python
• REST API boundary
• LangChain + OpenAI evaluation
• AssemblyAI transcription
• LangGraph extension
• Deterministic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14300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8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143000"/>
            <a:ext cx="54864" cy="4526280"/>
          </a:xfrm>
          <a:prstGeom prst="rect">
            <a:avLst/>
          </a:prstGeom>
          <a:solidFill>
            <a:srgbClr val="1CC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53E66"/>
                </a:solidFill>
                <a:latin typeface="Georgia"/>
              </a:rPr>
              <a:t>Data / External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1709928"/>
            <a:ext cx="3200400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9"/>
                </a:solidFill>
                <a:latin typeface="Aptos"/>
              </a:rPr>
              <a:t>Redis Cloud
• Problem catalogue
• Session state
• Feedback/history
• Search/filtering
External: isolated code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D7D"/>
                </a:solidFill>
                <a:latin typeface="Aptos"/>
              </a:rPr>
              <a:t>DSA Interview Platform  |  Dhruv Jain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528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7F4E4"/>
                </a:solidFill>
                <a:latin typeface="Georgia"/>
              </a:rPr>
              <a:t>3. Solution Design (TDD Excerpts)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10972800" cy="1234440"/>
          </a:xfrm>
          <a:prstGeom prst="roundRect">
            <a:avLst/>
          </a:prstGeom>
          <a:solidFill>
            <a:srgbClr val="053E66"/>
          </a:solidFill>
          <a:ln>
            <a:solidFill>
              <a:srgbClr val="05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54864" cy="1234440"/>
          </a:xfrm>
          <a:prstGeom prst="rect">
            <a:avLst/>
          </a:prstGeom>
          <a:solidFill>
            <a:srgbClr val="1CC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52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7F4E4"/>
                </a:solidFill>
                <a:latin typeface="Georgia"/>
              </a:rPr>
              <a:t>Problem &amp; Interview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9928"/>
            <a:ext cx="106527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Contracts cover problem retrieval/filtering, interview state, code submission, transcription, and evaluation.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51760"/>
            <a:ext cx="10972800" cy="1234440"/>
          </a:xfrm>
          <a:prstGeom prst="roundRect">
            <a:avLst/>
          </a:prstGeom>
          <a:solidFill>
            <a:srgbClr val="053E66"/>
          </a:solidFill>
          <a:ln>
            <a:solidFill>
              <a:srgbClr val="05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651760"/>
            <a:ext cx="54864" cy="1234440"/>
          </a:xfrm>
          <a:prstGeom prst="rect">
            <a:avLst/>
          </a:prstGeom>
          <a:solidFill>
            <a:srgbClr val="1CC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10652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7F4E4"/>
                </a:solidFill>
                <a:latin typeface="Georgia"/>
              </a:rPr>
              <a:t>Data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18688"/>
            <a:ext cx="106527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Problem records contain id, title, description, difficulty, topic, examples, hints, constraints, and tags. Session/evaluation records extend Redis-backed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160520"/>
            <a:ext cx="10972800" cy="1234440"/>
          </a:xfrm>
          <a:prstGeom prst="roundRect">
            <a:avLst/>
          </a:prstGeom>
          <a:solidFill>
            <a:srgbClr val="053E66"/>
          </a:solidFill>
          <a:ln>
            <a:solidFill>
              <a:srgbClr val="05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4160520"/>
            <a:ext cx="54864" cy="1234440"/>
          </a:xfrm>
          <a:prstGeom prst="rect">
            <a:avLst/>
          </a:prstGeom>
          <a:solidFill>
            <a:srgbClr val="1CC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0"/>
            <a:ext cx="10652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7F4E4"/>
                </a:solidFill>
                <a:latin typeface="Georgia"/>
              </a:rPr>
              <a:t>Adaptive Interviewer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27448"/>
            <a:ext cx="106527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LangGraph maintains interview state and routes between problem selection, evaluation, follow-ups, hints, difficulty changes, continuation, and completion.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DD2"/>
                </a:solidFill>
                <a:latin typeface="Aptos"/>
              </a:rPr>
              <a:t>DSA Interview Platform  |  Dhruv Jain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53E66"/>
                </a:solidFill>
                <a:latin typeface="Georgia"/>
              </a:rPr>
              <a:t>Design Trade-offs Assessed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8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54864" cy="4389120"/>
          </a:xfrm>
          <a:prstGeom prst="rect">
            <a:avLst/>
          </a:prstGeom>
          <a:solidFill>
            <a:srgbClr val="1CC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53E66"/>
                </a:solidFill>
                <a:latin typeface="Georgia"/>
              </a:rPr>
              <a:t>Modern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01368"/>
            <a:ext cx="320040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9"/>
                </a:solidFill>
                <a:latin typeface="Aptos"/>
              </a:rPr>
              <a:t>React/Vite instead of the article's vanilla JS frontend.
Trade-off: adds build complexity, but gives a cleaner foundation for the interview workspace.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3444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8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234440"/>
            <a:ext cx="54864" cy="4389120"/>
          </a:xfrm>
          <a:prstGeom prst="rect">
            <a:avLst/>
          </a:prstGeom>
          <a:solidFill>
            <a:srgbClr val="1CC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53E66"/>
                </a:solidFill>
                <a:latin typeface="Georgia"/>
              </a:rPr>
              <a:t>Managed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801368"/>
            <a:ext cx="320040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9"/>
                </a:solidFill>
                <a:latin typeface="Aptos"/>
              </a:rPr>
              <a:t>Redis Cloud, OpenAI, AssemblyAI, and hosted execution reduce infrastructure overhead.
Trade-off: provider quotas, availability, and cost.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23444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8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234440"/>
            <a:ext cx="54864" cy="4389120"/>
          </a:xfrm>
          <a:prstGeom prst="rect">
            <a:avLst/>
          </a:prstGeom>
          <a:solidFill>
            <a:srgbClr val="1CC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53E66"/>
                </a:solidFill>
                <a:latin typeface="Georgia"/>
              </a:rPr>
              <a:t>Agentic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1801368"/>
            <a:ext cx="320040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9"/>
                </a:solidFill>
                <a:latin typeface="Aptos"/>
              </a:rPr>
              <a:t>One Adaptive Interviewer instead of multiple agents.
Trade-off: less specialization, but lower orchestration complexity and a clearer reason to use LangGraph.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D7D"/>
                </a:solidFill>
                <a:latin typeface="Aptos"/>
              </a:rPr>
              <a:t>DSA Interview Platform  |  Dhruv Jain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53E66"/>
                </a:solidFill>
                <a:latin typeface="Georgia"/>
              </a:rPr>
              <a:t>4. Automated Test Strategy</a:t>
            </a:r>
          </a:p>
        </p:txBody>
      </p:sp>
      <p:sp>
        <p:nvSpPr>
          <p:cNvPr id="3" name="Oval 2"/>
          <p:cNvSpPr/>
          <p:nvPr/>
        </p:nvSpPr>
        <p:spPr>
          <a:xfrm>
            <a:off x="1005840" y="1417320"/>
            <a:ext cx="2971800" cy="2971800"/>
          </a:xfrm>
          <a:prstGeom prst="ellipse">
            <a:avLst/>
          </a:prstGeom>
          <a:solidFill>
            <a:srgbClr val="075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27632" y="2039112"/>
            <a:ext cx="1737360" cy="1737360"/>
          </a:xfrm>
          <a:prstGeom prst="ellipse">
            <a:avLst/>
          </a:prstGeom>
          <a:solidFill>
            <a:srgbClr val="F7F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64208" y="2450592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75284"/>
                </a:solidFill>
                <a:latin typeface="Georgia"/>
              </a:rPr>
              <a:t>High
Coverage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234440"/>
            <a:ext cx="2743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1234440"/>
            <a:ext cx="54864" cy="1234440"/>
          </a:xfrm>
          <a:prstGeom prst="rect">
            <a:avLst/>
          </a:prstGeom>
          <a:solidFill>
            <a:srgbClr val="075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3716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53E66"/>
                </a:solidFill>
                <a:latin typeface="Georgia"/>
              </a:rPr>
              <a:t>Unit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801368"/>
            <a:ext cx="24231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9"/>
                </a:solidFill>
                <a:latin typeface="Aptos"/>
              </a:rPr>
              <a:t>Fast deterministic tests for filtering, validation, data transformations, and parsing.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234440"/>
            <a:ext cx="2743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234440"/>
            <a:ext cx="54864" cy="1234440"/>
          </a:xfrm>
          <a:prstGeom prst="rect">
            <a:avLst/>
          </a:prstGeom>
          <a:solidFill>
            <a:srgbClr val="1CC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3716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53E66"/>
                </a:solidFill>
                <a:latin typeface="Georgia"/>
              </a:rPr>
              <a:t>Integration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801368"/>
            <a:ext cx="24231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9"/>
                </a:solidFill>
                <a:latin typeface="Aptos"/>
              </a:rPr>
              <a:t>Verify FastAPI ↔ Redis Cloud and external AI/transcription integrations.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743200"/>
            <a:ext cx="2743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2743200"/>
            <a:ext cx="54864" cy="1234440"/>
          </a:xfrm>
          <a:prstGeom prst="rect">
            <a:avLst/>
          </a:prstGeom>
          <a:solidFill>
            <a:srgbClr val="075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8803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53E66"/>
                </a:solidFill>
                <a:latin typeface="Georgia"/>
              </a:rPr>
              <a:t>Execution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310128"/>
            <a:ext cx="24231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9"/>
                </a:solidFill>
                <a:latin typeface="Aptos"/>
              </a:rPr>
              <a:t>Correct solutions, wrong answers, runtime errors, and timeout behavior.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2743200"/>
            <a:ext cx="2743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2743200"/>
            <a:ext cx="54864" cy="1234440"/>
          </a:xfrm>
          <a:prstGeom prst="rect">
            <a:avLst/>
          </a:prstGeom>
          <a:solidFill>
            <a:srgbClr val="1CC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8803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53E66"/>
                </a:solidFill>
                <a:latin typeface="Georgia"/>
              </a:rPr>
              <a:t>E2E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310128"/>
            <a:ext cx="24231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9"/>
                </a:solidFill>
                <a:latin typeface="Aptos"/>
              </a:rPr>
              <a:t>Critical candidate journey from problem selection through feedback.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709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469"/>
                </a:solidFill>
                <a:latin typeface="Georgia"/>
              </a:rPr>
              <a:t>Deterministic tests first; E2E reserved for critical interview paths.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D7D"/>
                </a:solidFill>
                <a:latin typeface="Aptos"/>
              </a:rPr>
              <a:t>DSA Interview Platform  |  Dhruv Jain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528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7F4E4"/>
                </a:solidFill>
                <a:latin typeface="Georgia"/>
              </a:rPr>
              <a:t>Critical Test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7F4E4"/>
                </a:solidFill>
                <a:latin typeface="Georgia"/>
              </a:rPr>
              <a:t>Domain /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1143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7F4E4"/>
                </a:solidFill>
                <a:latin typeface="Georgia"/>
              </a:rPr>
              <a:t>Test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143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7F4E4"/>
                </a:solidFill>
                <a:latin typeface="Georgia"/>
              </a:rPr>
              <a:t>Validation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1143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7F4E4"/>
                </a:solidFill>
                <a:latin typeface="Georgia"/>
              </a:rPr>
              <a:t>Priority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10835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1907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75284"/>
                </a:solidFill>
                <a:latin typeface="Aptos"/>
              </a:rPr>
              <a:t>Problem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7190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9"/>
                </a:solidFill>
                <a:latin typeface="Aptos"/>
              </a:rPr>
              <a:t>Invalid ID /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67335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A6469"/>
                </a:solidFill>
                <a:latin typeface="Aptos"/>
              </a:rPr>
              <a:t>Correct validation; no incorrect problem returned.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1746504"/>
            <a:ext cx="1280160" cy="347472"/>
          </a:xfrm>
          <a:prstGeom prst="roundRect">
            <a:avLst/>
          </a:prstGeom>
          <a:solidFill>
            <a:srgbClr val="F9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53E66"/>
                </a:solidFill>
                <a:latin typeface="Aptos"/>
              </a:rPr>
              <a:t>Critical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350008"/>
            <a:ext cx="10835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468879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75284"/>
                </a:solidFill>
                <a:latin typeface="Aptos"/>
              </a:rPr>
              <a:t>Code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468879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9"/>
                </a:solidFill>
                <a:latin typeface="Aptos"/>
              </a:rPr>
              <a:t>Runtime error / timeout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42316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A6469"/>
                </a:solidFill>
                <a:latin typeface="Aptos"/>
              </a:rPr>
              <a:t>Sandbox failure surfaced; API remains stable.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2496312"/>
            <a:ext cx="1280160" cy="347472"/>
          </a:xfrm>
          <a:prstGeom prst="roundRect">
            <a:avLst/>
          </a:prstGeom>
          <a:solidFill>
            <a:srgbClr val="F9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53E66"/>
                </a:solidFill>
                <a:latin typeface="Aptos"/>
              </a:rPr>
              <a:t>Critical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099815"/>
            <a:ext cx="10835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218687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75284"/>
                </a:solidFill>
                <a:latin typeface="Aptos"/>
              </a:rPr>
              <a:t>Voice / STT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218687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9"/>
                </a:solidFill>
                <a:latin typeface="Aptos"/>
              </a:rPr>
              <a:t>Empty or failed audio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17296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A6469"/>
                </a:solidFill>
                <a:latin typeface="Aptos"/>
              </a:rPr>
              <a:t>Graceful error and retry path.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5480" y="3246120"/>
            <a:ext cx="1280160" cy="347472"/>
          </a:xfrm>
          <a:prstGeom prst="roundRect">
            <a:avLst/>
          </a:prstGeom>
          <a:solidFill>
            <a:srgbClr val="FAE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53E66"/>
                </a:solidFill>
                <a:latin typeface="Aptos"/>
              </a:rPr>
              <a:t>High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849624"/>
            <a:ext cx="10835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68496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75284"/>
                </a:solidFill>
                <a:latin typeface="Aptos"/>
              </a:rPr>
              <a:t>AI 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3968496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9"/>
                </a:solidFill>
                <a:latin typeface="Aptos"/>
              </a:rPr>
              <a:t>Provider 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3922776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A6469"/>
                </a:solidFill>
                <a:latin typeface="Aptos"/>
              </a:rPr>
              <a:t>Controlled error; session is not lost.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80" y="3995928"/>
            <a:ext cx="1280160" cy="347472"/>
          </a:xfrm>
          <a:prstGeom prst="roundRect">
            <a:avLst/>
          </a:prstGeom>
          <a:solidFill>
            <a:srgbClr val="FAE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53E66"/>
                </a:solidFill>
                <a:latin typeface="Aptos"/>
              </a:rPr>
              <a:t>High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599432"/>
            <a:ext cx="10835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718304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75284"/>
                </a:solidFill>
                <a:latin typeface="Aptos"/>
              </a:rPr>
              <a:t>Redis Cloud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4718304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9"/>
                </a:solidFill>
                <a:latin typeface="Aptos"/>
              </a:rPr>
              <a:t>Connection failure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4672584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A6469"/>
                </a:solidFill>
                <a:latin typeface="Aptos"/>
              </a:rPr>
              <a:t>Datastore outage handled safely.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55480" y="4745736"/>
            <a:ext cx="1280160" cy="347472"/>
          </a:xfrm>
          <a:prstGeom prst="roundRect">
            <a:avLst/>
          </a:prstGeom>
          <a:solidFill>
            <a:srgbClr val="FAE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53E66"/>
                </a:solidFill>
                <a:latin typeface="Aptos"/>
              </a:rPr>
              <a:t>High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349240"/>
            <a:ext cx="10835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546811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75284"/>
                </a:solidFill>
                <a:latin typeface="Aptos"/>
              </a:rPr>
              <a:t>Interview 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46811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9"/>
                </a:solidFill>
                <a:latin typeface="Aptos"/>
              </a:rPr>
              <a:t>Session completion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542239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A6469"/>
                </a:solidFill>
                <a:latin typeface="Aptos"/>
              </a:rPr>
              <a:t>Final feedback persisted and retrievable.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55480" y="5495544"/>
            <a:ext cx="1280160" cy="347472"/>
          </a:xfrm>
          <a:prstGeom prst="roundRect">
            <a:avLst/>
          </a:prstGeom>
          <a:solidFill>
            <a:srgbClr val="E8E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53E66"/>
                </a:solidFill>
                <a:latin typeface="Aptos"/>
              </a:rPr>
              <a:t>Medium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DD2"/>
                </a:solidFill>
                <a:latin typeface="Aptos"/>
              </a:rPr>
              <a:t>DSA Interview Platform  |  Dhruv Jain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0" y="141732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1CC7A9"/>
                </a:solidFill>
                <a:latin typeface="Georgia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0" y="23317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75284"/>
                </a:solidFill>
                <a:latin typeface="Georgia"/>
              </a:rPr>
              <a:t>Review &amp;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315468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469"/>
                </a:solidFill>
                <a:latin typeface="Aptos"/>
              </a:rPr>
              <a:t>Opening the floor for technical critique, architecture validation, and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50292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75284"/>
                </a:solidFill>
                <a:latin typeface="Aptos"/>
              </a:rPr>
              <a:t>Made by Dhruv Jain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D7D"/>
                </a:solidFill>
                <a:latin typeface="Aptos"/>
              </a:rPr>
              <a:t>DSA Interview Platform  |  Dhruv Jain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53E66"/>
                </a:solidFill>
                <a:latin typeface="Georgia"/>
              </a:rPr>
              <a:t>Project 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80160"/>
            <a:ext cx="10789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54864" cy="960120"/>
          </a:xfrm>
          <a:prstGeom prst="rect">
            <a:avLst/>
          </a:prstGeom>
          <a:solidFill>
            <a:srgbClr val="1CC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19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53E66"/>
                </a:solidFill>
                <a:latin typeface="Georgia"/>
              </a:rPr>
              <a:t>Base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47088"/>
            <a:ext cx="10469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9"/>
                </a:solidFill>
                <a:latin typeface="Aptos"/>
              </a:rPr>
              <a:t>DEV.to: Speak Your Logic, Get Hired — AI-powered DSA prep assistant.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23160"/>
            <a:ext cx="10789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423160"/>
            <a:ext cx="54864" cy="960120"/>
          </a:xfrm>
          <a:prstGeom prst="rect">
            <a:avLst/>
          </a:prstGeom>
          <a:solidFill>
            <a:srgbClr val="1CC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53E66"/>
                </a:solidFill>
                <a:latin typeface="Georgia"/>
              </a:rPr>
              <a:t>Source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90088"/>
            <a:ext cx="10469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9"/>
                </a:solidFill>
                <a:latin typeface="Aptos"/>
              </a:rPr>
              <a:t>DSA Interview Ready repository by Divya4879.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66160"/>
            <a:ext cx="10789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566160"/>
            <a:ext cx="54864" cy="960120"/>
          </a:xfrm>
          <a:prstGeom prst="rect">
            <a:avLst/>
          </a:prstGeom>
          <a:solidFill>
            <a:srgbClr val="1CC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0332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53E66"/>
                </a:solidFill>
                <a:latin typeface="Georgia"/>
              </a:rPr>
              <a:t>Current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33087"/>
            <a:ext cx="10469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9"/>
                </a:solidFill>
                <a:latin typeface="Aptos"/>
              </a:rPr>
              <a:t>React/Vite + FastAPI + Redis Cloud + OpenAI/LangChain + AssemblyAI + isolated execution.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709160"/>
            <a:ext cx="10789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709160"/>
            <a:ext cx="54864" cy="960120"/>
          </a:xfrm>
          <a:prstGeom prst="rect">
            <a:avLst/>
          </a:prstGeom>
          <a:solidFill>
            <a:srgbClr val="1CC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4632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53E66"/>
                </a:solidFill>
                <a:latin typeface="Georgia"/>
              </a:rPr>
              <a:t>Agentic Extension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76088"/>
            <a:ext cx="10469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9"/>
                </a:solidFill>
                <a:latin typeface="Aptos"/>
              </a:rPr>
              <a:t>LangGraph Adaptive Interviewer added after baseline validation.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9"/>
                </a:solidFill>
                <a:latin typeface="Aptos"/>
              </a:rPr>
              <a:t>Architecture and test strategy are tailored to the current project implementation plan.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D7D"/>
                </a:solidFill>
                <a:latin typeface="Aptos"/>
              </a:rPr>
              <a:t>DSA Interview Platform  |  Dhruv Jain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